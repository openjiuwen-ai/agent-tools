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Default Extension="jpeg" ContentType="image/jpeg"/>
  <Override PartName="/ppt/slides/slide5.xml" ContentType="application/vnd.openxmlformats-officedocument.presentationml.slide+xml"/>
  <Override PartName="/ppt/slideMasters/slideMaster1.xml" ContentType="application/vnd.openxmlformats-officedocument.presentationml.slideMaster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Masters/slideMaster2.xml" ContentType="application/vnd.openxmlformats-officedocument.presentationml.slideMaster+xml"/>
  <Override PartName="/ppt/notesSlides/notesSlide4.xml" ContentType="application/vnd.openxmlformats-officedocument.presentationml.notesSlide+xml"/>
  <Override PartName="/ppt/tableStyles.xml" ContentType="application/vnd.openxmlformats-officedocument.presentationml.tableStyles+xml"/>
  <Override PartName="/ppt/slides/slide7.xml" ContentType="application/vnd.openxmlformats-officedocument.presentationml.slide+xml"/>
  <Override PartName="/ppt/slides/slide2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2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1.xml" ContentType="application/vnd.openxmlformats-officedocument.theme+xml"/>
  <Override PartName="/ppt/slideLayouts/slideLayout3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heme/theme3.xml" ContentType="application/vnd.openxmlformats-officedocument.them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/Relationships>
</file>

<file path=ppt/presentation.xml><?xml version="1.0" encoding="utf-8"?>
<p:presentation xmlns:p="http://schemas.openxmlformats.org/presentationml/2006/main" xmlns:p15="http://schemas.microsoft.com/office/powerpoint/2012/main" xmlns:r="http://schemas.openxmlformats.org/officeDocument/2006/relationships" xmlns:a="http://schemas.openxmlformats.org/drawingml/2006/main" xmlns:mc="http://schemas.openxmlformats.org/markup-compatibility/2006" firstSlideNum="1" mc:Ignorable="p15">
  <p:sldMasterIdLst>
    <p:sldMasterId id="2147483648" r:id="rId0"/>
    <p:sldMasterId id="2147483660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 type="screen16x9"/>
  <p:notesSz cx="6858000" cy="9144000"/>
  <p:defaultTextStyle>
    <a:defPPr marR="0" lvl="0" algn="l" rtl="false">
      <a:lnSpc>
        <a:spcPct val="100000"/>
      </a:lnSpc>
      <a:spcBef>
        <a:spcPts val="0"/>
      </a:spcBef>
      <a:spcAft>
        <a:spcPts val="0"/>
      </a:spcAft>
    </a:defPPr>
    <a:lvl1pPr marR="0" lvl="0" algn="l" rtl="false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false" i="false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false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false" i="false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false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false" i="false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false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false" i="false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false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false" i="false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false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false" i="false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false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false" i="false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false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false" i="false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false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false" i="false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tableStyles.xml><?xml version="1.0" encoding="utf-8"?>
<a:tblStyleLst xmlns:a="http://schemas.openxmlformats.org/drawingml/2006/main" def="{5C22544A-7EE6-4342-B048-85BDC9FD1C3A}">
  <a:tblStyle styleId="{58542034-FE4F-4ADA-92B8-4CA66D0F0DF3}" styleName="腾讯文档-基本">
    <a:wholeTbl>
      <a:tcTxStyle>
        <a:fontRef idx="minor"/>
        <a:srgbClr val="000000"/>
      </a:tcTxStyle>
      <a:tcStyle>
        <a:tcBdr>
          <a:left>
            <a:ln w="12700" cmpd="sng">
              <a:solidFill>
                <a:srgbClr val="999999"/>
              </a:solidFill>
            </a:ln>
          </a:left>
          <a:right>
            <a:ln w="12700" cmpd="sng">
              <a:solidFill>
                <a:srgbClr val="999999"/>
              </a:solidFill>
            </a:ln>
          </a:right>
          <a:top>
            <a:ln w="12700" cmpd="sng">
              <a:solidFill>
                <a:srgbClr val="999999"/>
              </a:solidFill>
            </a:ln>
          </a:top>
          <a:bottom>
            <a:ln w="12700" cmpd="sng">
              <a:solidFill>
                <a:srgbClr val="999999"/>
              </a:solidFill>
            </a:ln>
          </a:bottom>
          <a:insideH>
            <a:ln w="12700" cmpd="sng">
              <a:solidFill>
                <a:srgbClr val="999999"/>
              </a:solidFill>
            </a:ln>
          </a:insideH>
          <a:insideV>
            <a:ln w="12700" cmpd="sng">
              <a:solidFill>
                <a:srgbClr val="999999"/>
              </a:solidFill>
            </a:ln>
          </a:insideV>
        </a:tcBdr>
        <a:fill>
          <a:solidFill>
            <a:srgbClr val="FFFFFF"/>
          </a:solidFill>
        </a:fill>
      </a:tcStyle>
    </a:wholeTbl>
  </a:tblStyle>
</a:tblStyleLst>
</file>

<file path=ppt/_rels/presentation.xml.rels><?xml version="1.0" encoding="UTF-8" standalone="yes"?><Relationships xmlns="http://schemas.openxmlformats.org/package/2006/relationships"><Relationship Id="rId2" Type="http://schemas.openxmlformats.org/officeDocument/2006/relationships/slide" Target="slides/slide1.xml" /><Relationship Id="rId10" Type="http://schemas.openxmlformats.org/officeDocument/2006/relationships/tableStyles" Target="tableStyles.xml" /><Relationship Id="rId0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" Type="http://schemas.openxmlformats.org/officeDocument/2006/relationships/slideMaster" Target="slideMasters/slideMaster2.xml" /><Relationship Id="rId8" Type="http://schemas.openxmlformats.org/officeDocument/2006/relationships/slide" Target="slides/slide7.xml" /><Relationship Id="rId3" Type="http://schemas.openxmlformats.org/officeDocument/2006/relationships/slide" Target="slides/slide2.xml" /><Relationship Id="rId5" Type="http://schemas.openxmlformats.org/officeDocument/2006/relationships/slide" Target="slides/slide4.xml" /><Relationship Id="rId4" Type="http://schemas.openxmlformats.org/officeDocument/2006/relationships/slide" Target="slides/slide3.xml" /><Relationship Id="rId7" Type="http://schemas.openxmlformats.org/officeDocument/2006/relationships/slide" Target="slides/slide6.xml" /><Relationship Id="rId9" Type="http://schemas.openxmlformats.org/officeDocument/2006/relationships/notesMaster" Target="notesMasters/notesMaster1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3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true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false"/>
          <a:lstStyle>
            <a:lvl1pPr algn="l">
              <a:defRPr sz="1200"/>
            </a:lvl1pPr>
          </a:lstStyle>
          <a:p>
            <a:pPr/>
            <a:endParaRPr lang="cs-CZ"/>
          </a:p>
        </p:txBody>
      </p:sp>
      <p:sp>
        <p:nvSpPr>
          <p:cNvPr id="3" name="Date Placeholder 2"/>
          <p:cNvSpPr>
            <a:spLocks noGrp="true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false"/>
          <a:lstStyle>
            <a:lvl1pPr algn="r">
              <a:defRPr sz="1200"/>
            </a:lvl1pPr>
          </a:lstStyle>
          <a:p>
            <a:pPr/>
            <a:fld id="{B7268E1E-0E44-426D-905E-8AD9B19D2182}" type="datetimeFigureOut">
              <a:rPr lang="cs-CZ" smtClean="false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true" noRot="true" noChangeAspect="true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false" anchor="ctr"/>
          <a:lstStyle/>
          <a:p>
            <a:pPr/>
            <a:endParaRPr lang="cs-CZ"/>
          </a:p>
        </p:txBody>
      </p:sp>
      <p:sp>
        <p:nvSpPr>
          <p:cNvPr id="5" name="Notes Placeholder 4"/>
          <p:cNvSpPr>
            <a:spLocks noGrp="true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false"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true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false" anchor="b"/>
          <a:lstStyle>
            <a:lvl1pPr algn="l">
              <a:defRPr sz="1200"/>
            </a:lvl1pPr>
          </a:lstStyle>
          <a:p>
            <a:pPr/>
            <a:endParaRPr lang="cs-CZ"/>
          </a:p>
        </p:txBody>
      </p:sp>
      <p:sp>
        <p:nvSpPr>
          <p:cNvPr id="7" name="Slide Number Placeholder 6"/>
          <p:cNvSpPr>
            <a:spLocks noGrp="true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false" anchor="b"/>
          <a:lstStyle>
            <a:lvl1pPr algn="r">
              <a:defRPr sz="1200"/>
            </a:lvl1pPr>
          </a:lstStyle>
          <a:p>
            <a:pPr/>
            <a:fld id="{871B2431-D351-4C6E-A3CF-9DFAC0E3E050}" type="slidenum">
              <a:rPr lang="cs-CZ" smtClean="false"/>
              <a:t>‹#›</a:t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0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2.xml" /></Relationships>
</file>

<file path=ppt/notesSlides/_rels/notesSlide3.xml.rels><?xml version="1.0" encoding="UTF-8" standalone="yes"?><Relationships xmlns="http://schemas.openxmlformats.org/package/2006/relationships"><Relationship Id="rId0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<Relationships xmlns="http://schemas.openxmlformats.org/package/2006/relationships"><Relationship Id="rId0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<Relationships xmlns="http://schemas.openxmlformats.org/package/2006/relationships"><Relationship Id="rId0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<Relationships xmlns="http://schemas.openxmlformats.org/package/2006/relationships"><Relationship Id="rId0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<Relationships xmlns="http://schemas.openxmlformats.org/package/2006/relationships"><Relationship Id="rId0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true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false"/>
          <a:lstStyle>
            <a:lvl1pPr algn="l">
              <a:defRPr sz="1200"/>
            </a:lvl1pPr>
          </a:lstStyle>
          <a:p>
            <a:pPr/>
            <a:endParaRPr/>
          </a:p>
        </p:txBody>
      </p:sp>
      <p:sp>
        <p:nvSpPr>
          <p:cNvPr id="3" name="Date Placeholder 2"/>
          <p:cNvSpPr>
            <a:spLocks noGrp="true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false"/>
          <a:lstStyle>
            <a:lvl1pPr algn="r">
              <a:defRPr sz="1200"/>
            </a:lvl1pPr>
          </a:lstStyle>
          <a:p>
            <a:pPr/>
            <a:r>
              <a:rPr lang="cs-CZ" smtClean="false"/>
              <a:t>1.7.2013</a:t>
            </a:r>
            <a:endParaRPr/>
          </a:p>
        </p:txBody>
      </p:sp>
      <p:sp>
        <p:nvSpPr>
          <p:cNvPr id="4" name="Slide Image Placeholder 3"/>
          <p:cNvSpPr>
            <a:spLocks noGrp="true" noRot="true" noChangeAspect="true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false" anchor="ctr"/>
          <a:lstStyle/>
          <a:p>
            <a:pPr/>
            <a:endParaRPr/>
          </a:p>
        </p:txBody>
      </p:sp>
      <p:sp>
        <p:nvSpPr>
          <p:cNvPr id="5" name="Notes Placeholder 4"/>
          <p:cNvSpPr>
            <a:spLocks noGrp="true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l">
              <a:defRPr sz="1400" b="false" i="false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false" i="false" u="none" strike="noStrike">
                <a:solidFill>
                  <a:srgbClr val="000000">
                    <a:alpha val="100000"/>
                  </a:srgbClr>
                </a:solidFill>
              </a:rPr>
              <a:t>欢迎了解AI Investment Assitant——您的智能投资助手。它由两大核心部分组成：AI Investment Tools投资工具集，以及基于这些工具构建的AI Investment Agent工作流智能体。</a:t>
            </a:r>
            <a:endParaRPr/>
          </a:p>
        </p:txBody>
      </p:sp>
      <p:sp>
        <p:nvSpPr>
          <p:cNvPr id="6" name="Footer Placeholder 5"/>
          <p:cNvSpPr>
            <a:spLocks noGrp="true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false" anchor="b"/>
          <a:lstStyle>
            <a:lvl1pPr algn="l">
              <a:defRPr sz="1200"/>
            </a:lvl1pPr>
          </a:lstStyle>
          <a:p>
            <a:pPr/>
            <a:endParaRPr/>
          </a:p>
        </p:txBody>
      </p:sp>
      <p:sp>
        <p:nvSpPr>
          <p:cNvPr id="7" name="Slide Number Placeholder 6"/>
          <p:cNvSpPr>
            <a:spLocks noGrp="true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false" anchor="b"/>
          <a:lstStyle>
            <a:lvl1pPr algn="r">
              <a:defRPr sz="1200"/>
            </a:lvl1pPr>
          </a:lstStyle>
          <a:p>
            <a:pPr/>
            <a:r>
              <a:rPr lang="cs-CZ" smtClean="false"/>
              <a:t>‹#›</a:t>
            </a:r>
            <a:endParaRPr/>
          </a:p>
        </p:txBody>
      </p:sp>
    </p:spTree>
  </p:cSld>
</p:notes>
</file>

<file path=ppt/notesSlides/notesSlide2.xml><?xml version="1.0" encoding="utf-8"?>
<p:notes xmlns:p="http://schemas.openxmlformats.org/presentationml/2006/main" xmlns:a="http://schemas.openxmlformats.org/drawingml/2006/main">
  <p:cSld>
    <p:spTree>
      <p:nvGrpSpPr>
        <p:cNvPr id="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Header Placeholder 1"/>
          <p:cNvSpPr>
            <a:spLocks noGrp="true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false"/>
          <a:lstStyle>
            <a:lvl1pPr algn="l">
              <a:defRPr sz="1200"/>
            </a:lvl1pPr>
          </a:lstStyle>
          <a:p>
            <a:pPr/>
            <a:endParaRPr/>
          </a:p>
        </p:txBody>
      </p:sp>
      <p:sp>
        <p:nvSpPr>
          <p:cNvPr id="10" name="Date Placeholder 2"/>
          <p:cNvSpPr>
            <a:spLocks noGrp="true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false"/>
          <a:lstStyle>
            <a:lvl1pPr algn="r">
              <a:defRPr sz="1200"/>
            </a:lvl1pPr>
          </a:lstStyle>
          <a:p>
            <a:pPr/>
            <a:r>
              <a:rPr lang="cs-CZ" smtClean="false"/>
              <a:t>1.7.2013</a:t>
            </a:r>
            <a:endParaRPr/>
          </a:p>
        </p:txBody>
      </p:sp>
      <p:sp>
        <p:nvSpPr>
          <p:cNvPr id="11" name="Slide Image Placeholder 3"/>
          <p:cNvSpPr>
            <a:spLocks noGrp="true" noRot="true" noChangeAspect="true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false" anchor="ctr"/>
          <a:lstStyle/>
          <a:p>
            <a:pPr/>
            <a:endParaRPr/>
          </a:p>
        </p:txBody>
      </p:sp>
      <p:sp>
        <p:nvSpPr>
          <p:cNvPr id="12" name="Notes Placeholder 4"/>
          <p:cNvSpPr>
            <a:spLocks noGrp="true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l">
              <a:defRPr sz="1400" b="false" i="false" u="none" strike="noStrike"/>
            </a:lvl1pPr>
          </a:lstStyle>
          <a:p>
            <a:pPr/>
            <a:r>
              <a:rPr/>
              <a:t>AI Investment Agent是由AI Investment Tools提供的一系列工具搭建起来的工作流智能体。整个架构按</a:t>
            </a:r>
            <a:r>
              <a:rPr/>
              <a:t>数据</a:t>
            </a:r>
            <a:r>
              <a:rPr lang="zh-CN"/>
              <a:t>流分</a:t>
            </a:r>
            <a:r>
              <a:rPr/>
              <a:t>为3个阶段：数据获取层、数据分析层、投资决策层。数据从采集到决策，层层递进，最终输出专业的投资建议。</a:t>
            </a:r>
            <a:endParaRPr/>
          </a:p>
        </p:txBody>
      </p:sp>
      <p:sp>
        <p:nvSpPr>
          <p:cNvPr id="13" name="Footer Placeholder 5"/>
          <p:cNvSpPr>
            <a:spLocks noGrp="true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false" anchor="b"/>
          <a:lstStyle>
            <a:lvl1pPr algn="l">
              <a:defRPr sz="1200"/>
            </a:lvl1pPr>
          </a:lstStyle>
          <a:p>
            <a:pPr/>
            <a:endParaRPr/>
          </a:p>
        </p:txBody>
      </p:sp>
      <p:sp>
        <p:nvSpPr>
          <p:cNvPr id="14" name="Slide Number Placeholder 6"/>
          <p:cNvSpPr>
            <a:spLocks noGrp="true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false" anchor="b"/>
          <a:lstStyle>
            <a:lvl1pPr algn="r">
              <a:defRPr sz="1200"/>
            </a:lvl1pPr>
          </a:lstStyle>
          <a:p>
            <a:pPr/>
            <a:r>
              <a:rPr lang="cs-CZ" smtClean="false"/>
              <a:t>‹#›</a:t>
            </a:r>
            <a:endParaRPr/>
          </a:p>
        </p:txBody>
      </p:sp>
    </p:spTree>
  </p:cSld>
</p:notes>
</file>

<file path=ppt/notesSlides/notesSlide3.xml><?xml version="1.0" encoding="utf-8"?>
<p:notes xmlns:p="http://schemas.openxmlformats.org/presentationml/2006/main" xmlns:a="http://schemas.openxmlformats.org/drawingml/2006/main">
  <p:cSld>
    <p:spTree>
      <p:nvGrpSpPr>
        <p:cNvPr id="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Header Placeholder 1"/>
          <p:cNvSpPr>
            <a:spLocks noGrp="true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false"/>
          <a:lstStyle>
            <a:lvl1pPr algn="l">
              <a:defRPr sz="1200"/>
            </a:lvl1pPr>
          </a:lstStyle>
          <a:p>
            <a:pPr/>
            <a:endParaRPr/>
          </a:p>
        </p:txBody>
      </p:sp>
      <p:sp>
        <p:nvSpPr>
          <p:cNvPr id="17" name="Date Placeholder 2"/>
          <p:cNvSpPr>
            <a:spLocks noGrp="true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false"/>
          <a:lstStyle>
            <a:lvl1pPr algn="r">
              <a:defRPr sz="1200"/>
            </a:lvl1pPr>
          </a:lstStyle>
          <a:p>
            <a:pPr/>
            <a:r>
              <a:rPr lang="cs-CZ" smtClean="false"/>
              <a:t>1.7.2013</a:t>
            </a:r>
            <a:endParaRPr/>
          </a:p>
        </p:txBody>
      </p:sp>
      <p:sp>
        <p:nvSpPr>
          <p:cNvPr id="18" name="Slide Image Placeholder 3"/>
          <p:cNvSpPr>
            <a:spLocks noGrp="true" noRot="true" noChangeAspect="true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false" anchor="ctr"/>
          <a:lstStyle/>
          <a:p>
            <a:pPr/>
            <a:endParaRPr/>
          </a:p>
        </p:txBody>
      </p:sp>
      <p:sp>
        <p:nvSpPr>
          <p:cNvPr id="19" name="Notes Placeholder 4"/>
          <p:cNvSpPr>
            <a:spLocks noGrp="true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l">
              <a:defRPr sz="1400" b="false" i="false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false" i="false" u="none" strike="noStrike">
                <a:solidFill>
                  <a:srgbClr val="000000"/>
                </a:solidFill>
              </a:rPr>
              <a:t>AI Investment Tools是为OpenJiuWen Agent Studio平台量身定制的专业投资工具集。它包含三大类工具：数据获取类工具、数据分析类工具和投资决策类工具。这些工具无缝集成，为智能体提供强大的数据支持和分析能力。</a:t>
            </a:r>
            <a:endParaRPr/>
          </a:p>
        </p:txBody>
      </p:sp>
      <p:sp>
        <p:nvSpPr>
          <p:cNvPr id="20" name="Footer Placeholder 5"/>
          <p:cNvSpPr>
            <a:spLocks noGrp="true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false" anchor="b"/>
          <a:lstStyle>
            <a:lvl1pPr algn="l">
              <a:defRPr sz="1200"/>
            </a:lvl1pPr>
          </a:lstStyle>
          <a:p>
            <a:pPr/>
            <a:endParaRPr/>
          </a:p>
        </p:txBody>
      </p:sp>
      <p:sp>
        <p:nvSpPr>
          <p:cNvPr id="21" name="Slide Number Placeholder 6"/>
          <p:cNvSpPr>
            <a:spLocks noGrp="true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false" anchor="b"/>
          <a:lstStyle>
            <a:lvl1pPr algn="r">
              <a:defRPr sz="1200"/>
            </a:lvl1pPr>
          </a:lstStyle>
          <a:p>
            <a:pPr/>
            <a:r>
              <a:rPr lang="cs-CZ" smtClean="false"/>
              <a:t>‹#›</a:t>
            </a:r>
            <a:endParaRPr/>
          </a:p>
        </p:txBody>
      </p:sp>
    </p:spTree>
  </p:cSld>
</p:notes>
</file>

<file path=ppt/notesSlides/notesSlide4.xml><?xml version="1.0" encoding="utf-8"?>
<p:notes xmlns:p="http://schemas.openxmlformats.org/presentationml/2006/main" xmlns:a="http://schemas.openxmlformats.org/drawingml/2006/main">
  <p:cSld>
    <p:spTree>
      <p:nvGrpSpPr>
        <p:cNvPr id="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Header Placeholder 1"/>
          <p:cNvSpPr>
            <a:spLocks noGrp="true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false"/>
          <a:lstStyle>
            <a:lvl1pPr algn="l">
              <a:defRPr sz="1200"/>
            </a:lvl1pPr>
          </a:lstStyle>
          <a:p>
            <a:pPr/>
            <a:endParaRPr/>
          </a:p>
        </p:txBody>
      </p:sp>
      <p:sp>
        <p:nvSpPr>
          <p:cNvPr id="24" name="Date Placeholder 2"/>
          <p:cNvSpPr>
            <a:spLocks noGrp="true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false"/>
          <a:lstStyle>
            <a:lvl1pPr algn="r">
              <a:defRPr sz="1200"/>
            </a:lvl1pPr>
          </a:lstStyle>
          <a:p>
            <a:pPr/>
            <a:r>
              <a:rPr lang="cs-CZ" smtClean="false"/>
              <a:t>1.7.2013</a:t>
            </a:r>
            <a:endParaRPr/>
          </a:p>
        </p:txBody>
      </p:sp>
      <p:sp>
        <p:nvSpPr>
          <p:cNvPr id="25" name="Slide Image Placeholder 3"/>
          <p:cNvSpPr>
            <a:spLocks noGrp="true" noRot="true" noChangeAspect="true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false" anchor="ctr"/>
          <a:lstStyle/>
          <a:p>
            <a:pPr/>
            <a:endParaRPr/>
          </a:p>
        </p:txBody>
      </p:sp>
      <p:sp>
        <p:nvSpPr>
          <p:cNvPr id="26" name="Notes Placeholder 4"/>
          <p:cNvSpPr>
            <a:spLocks noGrp="true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l">
              <a:defRPr sz="1400" b="false" i="false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false" i="false" u="none" strike="noStrike">
                <a:solidFill>
                  <a:srgbClr val="000000"/>
                </a:solidFill>
              </a:rPr>
              <a:t>数据获取类工具是整个系统的基础，提供三大核心API接口：股价数据接口获取实时报价和历史K线；财务指标接口提供估值、盈利能力、财务健康度等关键数据；新闻数据接口抓取最新资讯并进行情绪分析。所有数据以标准JSON格式返回，便于后续处理。</a:t>
            </a:r>
            <a:endParaRPr/>
          </a:p>
        </p:txBody>
      </p:sp>
      <p:sp>
        <p:nvSpPr>
          <p:cNvPr id="27" name="Footer Placeholder 5"/>
          <p:cNvSpPr>
            <a:spLocks noGrp="true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false" anchor="b"/>
          <a:lstStyle>
            <a:lvl1pPr algn="l">
              <a:defRPr sz="1200"/>
            </a:lvl1pPr>
          </a:lstStyle>
          <a:p>
            <a:pPr/>
            <a:endParaRPr/>
          </a:p>
        </p:txBody>
      </p:sp>
      <p:sp>
        <p:nvSpPr>
          <p:cNvPr id="28" name="Slide Number Placeholder 6"/>
          <p:cNvSpPr>
            <a:spLocks noGrp="true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false" anchor="b"/>
          <a:lstStyle>
            <a:lvl1pPr algn="r">
              <a:defRPr sz="1200"/>
            </a:lvl1pPr>
          </a:lstStyle>
          <a:p>
            <a:pPr/>
            <a:r>
              <a:rPr lang="cs-CZ" smtClean="false"/>
              <a:t>‹#›</a:t>
            </a:r>
            <a:endParaRPr/>
          </a:p>
        </p:txBody>
      </p:sp>
    </p:spTree>
  </p:cSld>
</p:notes>
</file>

<file path=ppt/notesSlides/notesSlide5.xml><?xml version="1.0" encoding="utf-8"?>
<p:notes xmlns:p="http://schemas.openxmlformats.org/presentationml/2006/main" xmlns:a="http://schemas.openxmlformats.org/drawingml/2006/main">
  <p:cSld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Header Placeholder 1"/>
          <p:cNvSpPr>
            <a:spLocks noGrp="true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false"/>
          <a:lstStyle>
            <a:lvl1pPr algn="l">
              <a:defRPr sz="1200"/>
            </a:lvl1pPr>
          </a:lstStyle>
          <a:p>
            <a:pPr/>
            <a:endParaRPr/>
          </a:p>
        </p:txBody>
      </p:sp>
      <p:sp>
        <p:nvSpPr>
          <p:cNvPr id="31" name="Date Placeholder 2"/>
          <p:cNvSpPr>
            <a:spLocks noGrp="true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false"/>
          <a:lstStyle>
            <a:lvl1pPr algn="r">
              <a:defRPr sz="1200"/>
            </a:lvl1pPr>
          </a:lstStyle>
          <a:p>
            <a:pPr/>
            <a:r>
              <a:rPr lang="cs-CZ" smtClean="false"/>
              <a:t>1.7.2013</a:t>
            </a:r>
            <a:endParaRPr/>
          </a:p>
        </p:txBody>
      </p:sp>
      <p:sp>
        <p:nvSpPr>
          <p:cNvPr id="32" name="Slide Image Placeholder 3"/>
          <p:cNvSpPr>
            <a:spLocks noGrp="true" noRot="true" noChangeAspect="true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false" anchor="ctr"/>
          <a:lstStyle/>
          <a:p>
            <a:pPr/>
            <a:endParaRPr/>
          </a:p>
        </p:txBody>
      </p:sp>
      <p:sp>
        <p:nvSpPr>
          <p:cNvPr id="33" name="Notes Placeholder 4"/>
          <p:cNvSpPr>
            <a:spLocks noGrp="true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l">
              <a:defRPr sz="1400" b="false" i="false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false" i="false" u="none" strike="noStrike">
                <a:solidFill>
                  <a:srgbClr val="000000"/>
                </a:solidFill>
              </a:rPr>
              <a:t>数据分析类工具由17位AI投资分析师组成，分为两大阵营：投资风格分析师和技术分析师。投资风格分析师包括巴菲特式的价值投资、格雷厄姆的深度价值、成长创新、质量成长等12种流派；技术分析师涵盖图表分析、基本面分析、情绪分析等专业领域。每位分析师独立分析，输出包含信号方向、信心度、分析理由和分析师标识的标准化JSON结果。</a:t>
            </a:r>
            <a:endParaRPr/>
          </a:p>
        </p:txBody>
      </p:sp>
      <p:sp>
        <p:nvSpPr>
          <p:cNvPr id="34" name="Footer Placeholder 5"/>
          <p:cNvSpPr>
            <a:spLocks noGrp="true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false" anchor="b"/>
          <a:lstStyle>
            <a:lvl1pPr algn="l">
              <a:defRPr sz="1200"/>
            </a:lvl1pPr>
          </a:lstStyle>
          <a:p>
            <a:pPr/>
            <a:endParaRPr/>
          </a:p>
        </p:txBody>
      </p:sp>
      <p:sp>
        <p:nvSpPr>
          <p:cNvPr id="35" name="Slide Number Placeholder 6"/>
          <p:cNvSpPr>
            <a:spLocks noGrp="true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false" anchor="b"/>
          <a:lstStyle>
            <a:lvl1pPr algn="r">
              <a:defRPr sz="1200"/>
            </a:lvl1pPr>
          </a:lstStyle>
          <a:p>
            <a:pPr/>
            <a:r>
              <a:rPr lang="cs-CZ" smtClean="false"/>
              <a:t>‹#›</a:t>
            </a:r>
            <a:endParaRPr/>
          </a:p>
        </p:txBody>
      </p:sp>
    </p:spTree>
  </p:cSld>
</p:notes>
</file>

<file path=ppt/notesSlides/notesSlide6.xml><?xml version="1.0" encoding="utf-8"?>
<p:notes xmlns:p="http://schemas.openxmlformats.org/presentationml/2006/main" xmlns:a="http://schemas.openxmlformats.org/drawingml/2006/main">
  <p:cSld>
    <p:spTree>
      <p:nvGrpSpPr>
        <p:cNvPr id="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Header Placeholder 1"/>
          <p:cNvSpPr>
            <a:spLocks noGrp="true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false"/>
          <a:lstStyle>
            <a:lvl1pPr algn="l">
              <a:defRPr sz="1200"/>
            </a:lvl1pPr>
          </a:lstStyle>
          <a:p>
            <a:pPr/>
            <a:endParaRPr/>
          </a:p>
        </p:txBody>
      </p:sp>
      <p:sp>
        <p:nvSpPr>
          <p:cNvPr id="38" name="Date Placeholder 2"/>
          <p:cNvSpPr>
            <a:spLocks noGrp="true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false"/>
          <a:lstStyle>
            <a:lvl1pPr algn="r">
              <a:defRPr sz="1200"/>
            </a:lvl1pPr>
          </a:lstStyle>
          <a:p>
            <a:pPr/>
            <a:r>
              <a:rPr lang="cs-CZ" smtClean="false"/>
              <a:t>1.7.2013</a:t>
            </a:r>
            <a:endParaRPr/>
          </a:p>
        </p:txBody>
      </p:sp>
      <p:sp>
        <p:nvSpPr>
          <p:cNvPr id="39" name="Slide Image Placeholder 3"/>
          <p:cNvSpPr>
            <a:spLocks noGrp="true" noRot="true" noChangeAspect="true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false" anchor="ctr"/>
          <a:lstStyle/>
          <a:p>
            <a:pPr/>
            <a:endParaRPr/>
          </a:p>
        </p:txBody>
      </p:sp>
      <p:sp>
        <p:nvSpPr>
          <p:cNvPr id="40" name="Notes Placeholder 4"/>
          <p:cNvSpPr>
            <a:spLocks noGrp="true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l">
              <a:defRPr sz="1400" b="false" i="false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false" i="false" u="none" strike="noStrike">
                <a:solidFill>
                  <a:srgbClr val="000000"/>
                </a:solidFill>
              </a:rPr>
              <a:t>投资决策类工具是整个系统的决策中枢，包含两个核心模块：风险评估工具基于波动率模型计算持仓限制，为投资设置安全边界；投资组合管理工具综合所有分析师的信号，通过大语言模型进行智能推理，最终输出具体的交易指令——买入、卖出或持有，以及精确的股数和入场价格。</a:t>
            </a:r>
            <a:endParaRPr/>
          </a:p>
        </p:txBody>
      </p:sp>
      <p:sp>
        <p:nvSpPr>
          <p:cNvPr id="41" name="Footer Placeholder 5"/>
          <p:cNvSpPr>
            <a:spLocks noGrp="true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false" anchor="b"/>
          <a:lstStyle>
            <a:lvl1pPr algn="l">
              <a:defRPr sz="1200"/>
            </a:lvl1pPr>
          </a:lstStyle>
          <a:p>
            <a:pPr/>
            <a:endParaRPr/>
          </a:p>
        </p:txBody>
      </p:sp>
      <p:sp>
        <p:nvSpPr>
          <p:cNvPr id="42" name="Slide Number Placeholder 6"/>
          <p:cNvSpPr>
            <a:spLocks noGrp="true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false" anchor="b"/>
          <a:lstStyle>
            <a:lvl1pPr algn="r">
              <a:defRPr sz="1200"/>
            </a:lvl1pPr>
          </a:lstStyle>
          <a:p>
            <a:pPr/>
            <a:r>
              <a:rPr lang="cs-CZ" smtClean="false"/>
              <a:t>‹#›</a:t>
            </a:r>
            <a:endParaRPr/>
          </a:p>
        </p:txBody>
      </p:sp>
    </p:spTree>
  </p:cSld>
</p:notes>
</file>

<file path=ppt/notesSlides/notesSlide7.xml><?xml version="1.0" encoding="utf-8"?>
<p:notes xmlns:p="http://schemas.openxmlformats.org/presentationml/2006/main" xmlns:a="http://schemas.openxmlformats.org/drawingml/2006/main">
  <p:cSld>
    <p:spTree>
      <p:nvGrpSpPr>
        <p:cNvPr id="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Header Placeholder 1"/>
          <p:cNvSpPr>
            <a:spLocks noGrp="true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false"/>
          <a:lstStyle>
            <a:lvl1pPr algn="l">
              <a:defRPr sz="1200"/>
            </a:lvl1pPr>
          </a:lstStyle>
          <a:p>
            <a:pPr/>
            <a:endParaRPr/>
          </a:p>
        </p:txBody>
      </p:sp>
      <p:sp>
        <p:nvSpPr>
          <p:cNvPr id="45" name="Date Placeholder 2"/>
          <p:cNvSpPr>
            <a:spLocks noGrp="true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false"/>
          <a:lstStyle>
            <a:lvl1pPr algn="r">
              <a:defRPr sz="1200"/>
            </a:lvl1pPr>
          </a:lstStyle>
          <a:p>
            <a:pPr/>
            <a:r>
              <a:rPr lang="cs-CZ" smtClean="false"/>
              <a:t>1.7.2013</a:t>
            </a:r>
            <a:endParaRPr/>
          </a:p>
        </p:txBody>
      </p:sp>
      <p:sp>
        <p:nvSpPr>
          <p:cNvPr id="46" name="Slide Image Placeholder 3"/>
          <p:cNvSpPr>
            <a:spLocks noGrp="true" noRot="true" noChangeAspect="true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false" anchor="ctr"/>
          <a:lstStyle/>
          <a:p>
            <a:pPr/>
            <a:endParaRPr/>
          </a:p>
        </p:txBody>
      </p:sp>
      <p:sp>
        <p:nvSpPr>
          <p:cNvPr id="47" name="Notes Placeholder 4"/>
          <p:cNvSpPr>
            <a:spLocks noGrp="true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l">
              <a:defRPr sz="1400" b="false" i="false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false" i="false" u="none" strike="noStrike">
                <a:solidFill>
                  <a:srgbClr val="000000">
                    <a:alpha val="100000"/>
                  </a:srgbClr>
                </a:solidFill>
              </a:rPr>
              <a:t>AI Investment助手的核心优势体现在三个方面：数据全面，整合股价、财务、新闻、内部交易四大数据源；分析多维，17位AI分析师覆盖价值、成长、技术等多种投资流派；决策智能，通过大语言模型进行智能推理，输出精准的交易指令。</a:t>
            </a:r>
            <a:endParaRPr/>
          </a:p>
        </p:txBody>
      </p:sp>
      <p:sp>
        <p:nvSpPr>
          <p:cNvPr id="48" name="Footer Placeholder 5"/>
          <p:cNvSpPr>
            <a:spLocks noGrp="true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false" anchor="b"/>
          <a:lstStyle>
            <a:lvl1pPr algn="l">
              <a:defRPr sz="1200"/>
            </a:lvl1pPr>
          </a:lstStyle>
          <a:p>
            <a:pPr/>
            <a:endParaRPr/>
          </a:p>
        </p:txBody>
      </p:sp>
      <p:sp>
        <p:nvSpPr>
          <p:cNvPr id="49" name="Slide Number Placeholder 6"/>
          <p:cNvSpPr>
            <a:spLocks noGrp="true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false" anchor="b"/>
          <a:lstStyle>
            <a:lvl1pPr algn="r">
              <a:defRPr sz="1200"/>
            </a:lvl1pPr>
          </a:lstStyle>
          <a:p>
            <a:pPr/>
            <a:r>
              <a:rPr lang="cs-CZ" smtClean="false"/>
              <a:t>‹#›</a:t>
            </a:r>
            <a:endParaRPr/>
          </a:p>
        </p:txBody>
      </p:sp>
    </p:spTree>
  </p:cSld>
</p:note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3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4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5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6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7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8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9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0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2.xml" /></Relationships>
</file>

<file path=ppt/slideLayouts/slideLayout1.xml><?xml version="1.0" encoding="utf-8"?>
<p:sldLayout xmlns:p="http://schemas.openxmlformats.org/presentationml/2006/main" xmlns:a="http://schemas.openxmlformats.org/drawingml/2006/main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30"/>
          <p:cNvSpPr txBox="true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true" wrap="square" lIns="68575" tIns="34275" rIns="68575" bIns="34275" anchor="b" anchorCtr="false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pPr/>
            <a:endParaRPr/>
          </a:p>
        </p:txBody>
      </p:sp>
      <p:sp>
        <p:nvSpPr>
          <p:cNvPr id="3" name="Shape 31"/>
          <p:cNvSpPr txBox="true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true" wrap="square" lIns="68575" tIns="34275" rIns="68575" bIns="34275" anchor="t" anchorCtr="false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pPr/>
            <a:endParaRPr/>
          </a:p>
        </p:txBody>
      </p:sp>
      <p:sp>
        <p:nvSpPr>
          <p:cNvPr id="4" name="Shape 32"/>
          <p:cNvSpPr txBox="true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true" wrap="square" lIns="68575" tIns="34275" rIns="68575" bIns="34275" anchor="ctr" anchorCtr="false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pPr/>
            <a:endParaRPr/>
          </a:p>
        </p:txBody>
      </p:sp>
      <p:sp>
        <p:nvSpPr>
          <p:cNvPr id="5" name="Shape 33"/>
          <p:cNvSpPr txBox="true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true" wrap="square" lIns="68575" tIns="34275" rIns="68575" bIns="34275" anchor="ctr" anchorCtr="false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pPr/>
            <a:endParaRPr/>
          </a:p>
        </p:txBody>
      </p:sp>
      <p:sp>
        <p:nvSpPr>
          <p:cNvPr id="6" name="Shape 34"/>
          <p:cNvSpPr txBox="true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true" wrap="square" lIns="68575" tIns="34275" rIns="68575" bIns="34275" anchor="ctr" anchorCtr="false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false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p="http://schemas.openxmlformats.org/presentationml/2006/main" xmlns:a="http://schemas.openxmlformats.org/drawingml/2006/main" type="obj">
  <p:cSld name="OBJECT"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54"/>
          <p:cNvSpPr txBox="true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true" wrap="square" lIns="68575" tIns="34275" rIns="68575" bIns="34275" anchor="ctr" anchorCtr="false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pPr/>
            <a:endParaRPr/>
          </a:p>
        </p:txBody>
      </p:sp>
      <p:sp>
        <p:nvSpPr>
          <p:cNvPr id="9" name="Shape 55"/>
          <p:cNvSpPr txBox="true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true" wrap="square" lIns="68575" tIns="34275" rIns="68575" bIns="34275" anchor="t" anchorCtr="false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pPr/>
            <a:endParaRPr/>
          </a:p>
        </p:txBody>
      </p:sp>
      <p:sp>
        <p:nvSpPr>
          <p:cNvPr id="10" name="Shape 56"/>
          <p:cNvSpPr txBox="true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true" wrap="square" lIns="68575" tIns="34275" rIns="68575" bIns="34275" anchor="ctr" anchorCtr="false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pPr/>
            <a:endParaRPr/>
          </a:p>
        </p:txBody>
      </p:sp>
      <p:sp>
        <p:nvSpPr>
          <p:cNvPr id="11" name="Shape 57"/>
          <p:cNvSpPr txBox="true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true" wrap="square" lIns="68575" tIns="34275" rIns="68575" bIns="34275" anchor="ctr" anchorCtr="false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pPr/>
            <a:endParaRPr/>
          </a:p>
        </p:txBody>
      </p:sp>
      <p:sp>
        <p:nvSpPr>
          <p:cNvPr id="12" name="Shape 58"/>
          <p:cNvSpPr txBox="true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true" wrap="square" lIns="68575" tIns="34275" rIns="68575" bIns="34275" anchor="ctr" anchorCtr="false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false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p="http://schemas.openxmlformats.org/presentationml/2006/main" xmlns:a="http://schemas.openxmlformats.org/drawingml/2006/main" type="secHead">
  <p:cSld name="SECTION_HEADER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59"/>
          <p:cNvSpPr txBox="true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true" wrap="square" lIns="68575" tIns="34275" rIns="68575" bIns="34275" anchor="b" anchorCtr="false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pPr/>
            <a:endParaRPr/>
          </a:p>
        </p:txBody>
      </p:sp>
      <p:sp>
        <p:nvSpPr>
          <p:cNvPr id="21" name="Shape 60"/>
          <p:cNvSpPr txBox="true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true" wrap="square" lIns="68575" tIns="34275" rIns="68575" bIns="34275" anchor="t" anchorCtr="false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pPr/>
            <a:endParaRPr/>
          </a:p>
        </p:txBody>
      </p:sp>
      <p:sp>
        <p:nvSpPr>
          <p:cNvPr id="22" name="Shape 61"/>
          <p:cNvSpPr txBox="true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true" wrap="square" lIns="68575" tIns="34275" rIns="68575" bIns="34275" anchor="ctr" anchorCtr="false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pPr/>
            <a:endParaRPr/>
          </a:p>
        </p:txBody>
      </p:sp>
      <p:sp>
        <p:nvSpPr>
          <p:cNvPr id="23" name="Shape 62"/>
          <p:cNvSpPr txBox="true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true" wrap="square" lIns="68575" tIns="34275" rIns="68575" bIns="34275" anchor="ctr" anchorCtr="false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pPr/>
            <a:endParaRPr/>
          </a:p>
        </p:txBody>
      </p:sp>
      <p:sp>
        <p:nvSpPr>
          <p:cNvPr id="24" name="Shape 63"/>
          <p:cNvSpPr txBox="true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true" wrap="square" lIns="68575" tIns="34275" rIns="68575" bIns="34275" anchor="ctr" anchorCtr="false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false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p="http://schemas.openxmlformats.org/presentationml/2006/main" xmlns:a="http://schemas.openxmlformats.org/drawingml/2006/main" type="twoObj">
  <p:cSld name="TWO_OBJECTS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9"/>
          <p:cNvSpPr txBox="true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true" wrap="square" lIns="68575" tIns="34275" rIns="68575" bIns="34275" anchor="ctr" anchorCtr="false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pPr/>
            <a:endParaRPr/>
          </a:p>
        </p:txBody>
      </p:sp>
      <p:sp>
        <p:nvSpPr>
          <p:cNvPr id="27" name="Shape 10"/>
          <p:cNvSpPr txBox="true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true" wrap="square" lIns="68575" tIns="34275" rIns="68575" bIns="34275" anchor="t" anchorCtr="false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pPr/>
            <a:endParaRPr/>
          </a:p>
        </p:txBody>
      </p:sp>
      <p:sp>
        <p:nvSpPr>
          <p:cNvPr id="28" name="Shape 11"/>
          <p:cNvSpPr txBox="true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true" wrap="square" lIns="68575" tIns="34275" rIns="68575" bIns="34275" anchor="t" anchorCtr="false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pPr/>
            <a:endParaRPr/>
          </a:p>
        </p:txBody>
      </p:sp>
      <p:sp>
        <p:nvSpPr>
          <p:cNvPr id="29" name="Shape 12"/>
          <p:cNvSpPr txBox="true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true" wrap="square" lIns="68575" tIns="34275" rIns="68575" bIns="34275" anchor="ctr" anchorCtr="false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pPr/>
            <a:endParaRPr/>
          </a:p>
        </p:txBody>
      </p:sp>
      <p:sp>
        <p:nvSpPr>
          <p:cNvPr id="30" name="Shape 13"/>
          <p:cNvSpPr txBox="true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true" wrap="square" lIns="68575" tIns="34275" rIns="68575" bIns="34275" anchor="ctr" anchorCtr="false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pPr/>
            <a:endParaRPr/>
          </a:p>
        </p:txBody>
      </p:sp>
      <p:sp>
        <p:nvSpPr>
          <p:cNvPr id="31" name="Shape 14"/>
          <p:cNvSpPr txBox="true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true" wrap="square" lIns="68575" tIns="34275" rIns="68575" bIns="34275" anchor="ctr" anchorCtr="false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false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p="http://schemas.openxmlformats.org/presentationml/2006/main" xmlns:a="http://schemas.openxmlformats.org/drawingml/2006/main" type="twoTxTwoObj">
  <p:cSld name="TWO_OBJECTS_WITH_TEXT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35"/>
          <p:cNvSpPr txBox="true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true" wrap="square" lIns="68575" tIns="34275" rIns="68575" bIns="34275" anchor="ctr" anchorCtr="false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pPr/>
            <a:endParaRPr/>
          </a:p>
        </p:txBody>
      </p:sp>
      <p:sp>
        <p:nvSpPr>
          <p:cNvPr id="34" name="Shape 36"/>
          <p:cNvSpPr txBox="true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true" wrap="square" lIns="68575" tIns="34275" rIns="68575" bIns="34275" anchor="b" anchorCtr="false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true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true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true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true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true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true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true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true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true"/>
            </a:lvl9pPr>
          </a:lstStyle>
          <a:p>
            <a:pPr/>
            <a:endParaRPr/>
          </a:p>
        </p:txBody>
      </p:sp>
      <p:sp>
        <p:nvSpPr>
          <p:cNvPr id="35" name="Shape 37"/>
          <p:cNvSpPr txBox="true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true" wrap="square" lIns="68575" tIns="34275" rIns="68575" bIns="34275" anchor="t" anchorCtr="false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pPr/>
            <a:endParaRPr/>
          </a:p>
        </p:txBody>
      </p:sp>
      <p:sp>
        <p:nvSpPr>
          <p:cNvPr id="36" name="Shape 38"/>
          <p:cNvSpPr txBox="true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true" wrap="square" lIns="68575" tIns="34275" rIns="68575" bIns="34275" anchor="b" anchorCtr="false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true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true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true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true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true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true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true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true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true"/>
            </a:lvl9pPr>
          </a:lstStyle>
          <a:p>
            <a:pPr/>
            <a:endParaRPr/>
          </a:p>
        </p:txBody>
      </p:sp>
      <p:sp>
        <p:nvSpPr>
          <p:cNvPr id="37" name="Shape 39"/>
          <p:cNvSpPr txBox="true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true" wrap="square" lIns="68575" tIns="34275" rIns="68575" bIns="34275" anchor="t" anchorCtr="false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pPr/>
            <a:endParaRPr/>
          </a:p>
        </p:txBody>
      </p:sp>
      <p:sp>
        <p:nvSpPr>
          <p:cNvPr id="38" name="Shape 40"/>
          <p:cNvSpPr txBox="true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true" wrap="square" lIns="68575" tIns="34275" rIns="68575" bIns="34275" anchor="ctr" anchorCtr="false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pPr/>
            <a:endParaRPr/>
          </a:p>
        </p:txBody>
      </p:sp>
      <p:sp>
        <p:nvSpPr>
          <p:cNvPr id="39" name="Shape 41"/>
          <p:cNvSpPr txBox="true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true" wrap="square" lIns="68575" tIns="34275" rIns="68575" bIns="34275" anchor="ctr" anchorCtr="false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pPr/>
            <a:endParaRPr/>
          </a:p>
        </p:txBody>
      </p:sp>
      <p:sp>
        <p:nvSpPr>
          <p:cNvPr id="40" name="Shape 42"/>
          <p:cNvSpPr txBox="true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true" wrap="square" lIns="68575" tIns="34275" rIns="68575" bIns="34275" anchor="ctr" anchorCtr="false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false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p="http://schemas.openxmlformats.org/presentationml/2006/main" xmlns:a="http://schemas.openxmlformats.org/drawingml/2006/main" type="titleOnly">
  <p:cSld name="TITLE_ONLY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hape 20"/>
          <p:cNvSpPr txBox="true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true" wrap="square" lIns="68575" tIns="34275" rIns="68575" bIns="34275" anchor="ctr" anchorCtr="false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pPr/>
            <a:endParaRPr/>
          </a:p>
        </p:txBody>
      </p:sp>
      <p:sp>
        <p:nvSpPr>
          <p:cNvPr id="43" name="Shape 21"/>
          <p:cNvSpPr txBox="true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true" wrap="square" lIns="68575" tIns="34275" rIns="68575" bIns="34275" anchor="ctr" anchorCtr="false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pPr/>
            <a:endParaRPr/>
          </a:p>
        </p:txBody>
      </p:sp>
      <p:sp>
        <p:nvSpPr>
          <p:cNvPr id="44" name="Shape 22"/>
          <p:cNvSpPr txBox="true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true" wrap="square" lIns="68575" tIns="34275" rIns="68575" bIns="34275" anchor="ctr" anchorCtr="false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pPr/>
            <a:endParaRPr/>
          </a:p>
        </p:txBody>
      </p:sp>
      <p:sp>
        <p:nvSpPr>
          <p:cNvPr id="45" name="Shape 23"/>
          <p:cNvSpPr txBox="true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true" wrap="square" lIns="68575" tIns="34275" rIns="68575" bIns="34275" anchor="ctr" anchorCtr="false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false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p="http://schemas.openxmlformats.org/presentationml/2006/main" xmlns:a="http://schemas.openxmlformats.org/drawingml/2006/main" type="blank">
  <p:cSld name="BLANK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hape 6"/>
          <p:cNvSpPr txBox="true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true" wrap="square" lIns="68575" tIns="34275" rIns="68575" bIns="34275" anchor="ctr" anchorCtr="false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pPr/>
            <a:endParaRPr/>
          </a:p>
        </p:txBody>
      </p:sp>
      <p:sp>
        <p:nvSpPr>
          <p:cNvPr id="48" name="Shape 7"/>
          <p:cNvSpPr txBox="true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true" wrap="square" lIns="68575" tIns="34275" rIns="68575" bIns="34275" anchor="ctr" anchorCtr="false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pPr/>
            <a:endParaRPr/>
          </a:p>
        </p:txBody>
      </p:sp>
      <p:sp>
        <p:nvSpPr>
          <p:cNvPr id="49" name="Shape 8"/>
          <p:cNvSpPr txBox="true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true" wrap="square" lIns="68575" tIns="34275" rIns="68575" bIns="34275" anchor="ctr" anchorCtr="false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false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p="http://schemas.openxmlformats.org/presentationml/2006/main" xmlns:a="http://schemas.openxmlformats.org/drawingml/2006/main" type="objTx">
  <p:cSld name="OBJECT_WITH_CAPTION_TEXT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43"/>
          <p:cNvSpPr txBox="true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true" wrap="square" lIns="68575" tIns="34275" rIns="68575" bIns="34275" anchor="b" anchorCtr="false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pPr/>
            <a:endParaRPr/>
          </a:p>
        </p:txBody>
      </p:sp>
      <p:sp>
        <p:nvSpPr>
          <p:cNvPr id="52" name="Shape 44"/>
          <p:cNvSpPr txBox="true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true" wrap="square" lIns="68575" tIns="34275" rIns="68575" bIns="34275" anchor="t" anchorCtr="false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pPr/>
            <a:endParaRPr/>
          </a:p>
        </p:txBody>
      </p:sp>
      <p:sp>
        <p:nvSpPr>
          <p:cNvPr id="53" name="Shape 45"/>
          <p:cNvSpPr txBox="true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true" wrap="square" lIns="68575" tIns="34275" rIns="68575" bIns="34275" anchor="t" anchorCtr="false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pPr/>
            <a:endParaRPr/>
          </a:p>
        </p:txBody>
      </p:sp>
      <p:sp>
        <p:nvSpPr>
          <p:cNvPr id="54" name="Shape 46"/>
          <p:cNvSpPr txBox="true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true" wrap="square" lIns="68575" tIns="34275" rIns="68575" bIns="34275" anchor="ctr" anchorCtr="false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pPr/>
            <a:endParaRPr/>
          </a:p>
        </p:txBody>
      </p:sp>
      <p:sp>
        <p:nvSpPr>
          <p:cNvPr id="55" name="Shape 47"/>
          <p:cNvSpPr txBox="true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true" wrap="square" lIns="68575" tIns="34275" rIns="68575" bIns="34275" anchor="ctr" anchorCtr="false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pPr/>
            <a:endParaRPr/>
          </a:p>
        </p:txBody>
      </p:sp>
      <p:sp>
        <p:nvSpPr>
          <p:cNvPr id="56" name="Shape 48"/>
          <p:cNvSpPr txBox="true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true" wrap="square" lIns="68575" tIns="34275" rIns="68575" bIns="34275" anchor="ctr" anchorCtr="false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false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p="http://schemas.openxmlformats.org/presentationml/2006/main" xmlns:a="http://schemas.openxmlformats.org/drawingml/2006/main" type="picTx">
  <p:cSld name="PICTURE_WITH_CAPTION_TEXT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 24"/>
          <p:cNvSpPr txBox="true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true" wrap="square" lIns="68575" tIns="34275" rIns="68575" bIns="34275" anchor="b" anchorCtr="false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pPr/>
            <a:endParaRPr/>
          </a:p>
        </p:txBody>
      </p:sp>
      <p:sp>
        <p:nvSpPr>
          <p:cNvPr id="59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/>
            <a:endParaRPr/>
          </a:p>
        </p:txBody>
      </p:sp>
      <p:sp>
        <p:nvSpPr>
          <p:cNvPr id="60" name="Shape 26"/>
          <p:cNvSpPr txBox="true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true" wrap="square" lIns="68575" tIns="34275" rIns="68575" bIns="34275" anchor="t" anchorCtr="false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pPr/>
            <a:endParaRPr/>
          </a:p>
        </p:txBody>
      </p:sp>
      <p:sp>
        <p:nvSpPr>
          <p:cNvPr id="61" name="Shape 27"/>
          <p:cNvSpPr txBox="true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true" wrap="square" lIns="68575" tIns="34275" rIns="68575" bIns="34275" anchor="ctr" anchorCtr="false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pPr/>
            <a:endParaRPr/>
          </a:p>
        </p:txBody>
      </p:sp>
      <p:sp>
        <p:nvSpPr>
          <p:cNvPr id="62" name="Shape 28"/>
          <p:cNvSpPr txBox="true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true" wrap="square" lIns="68575" tIns="34275" rIns="68575" bIns="34275" anchor="ctr" anchorCtr="false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pPr/>
            <a:endParaRPr/>
          </a:p>
        </p:txBody>
      </p:sp>
      <p:sp>
        <p:nvSpPr>
          <p:cNvPr id="63" name="Shape 29"/>
          <p:cNvSpPr txBox="true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true" wrap="square" lIns="68575" tIns="34275" rIns="68575" bIns="34275" anchor="ctr" anchorCtr="false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false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p="http://schemas.openxmlformats.org/presentationml/2006/main" xmlns:a="http://schemas.openxmlformats.org/drawingml/2006/main" type="vertTx">
  <p:cSld name="VERTICAL_TEXT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hape 49"/>
          <p:cNvSpPr txBox="true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true" wrap="square" lIns="68575" tIns="34275" rIns="68575" bIns="34275" anchor="ctr" anchorCtr="false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pPr/>
            <a:endParaRPr/>
          </a:p>
        </p:txBody>
      </p:sp>
      <p:sp>
        <p:nvSpPr>
          <p:cNvPr id="66" name="Shape 50"/>
          <p:cNvSpPr txBox="true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true" wrap="square" lIns="68575" tIns="34275" rIns="68575" bIns="34275" anchor="t" anchorCtr="false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pPr/>
            <a:endParaRPr/>
          </a:p>
        </p:txBody>
      </p:sp>
      <p:sp>
        <p:nvSpPr>
          <p:cNvPr id="67" name="Shape 51"/>
          <p:cNvSpPr txBox="true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true" wrap="square" lIns="68575" tIns="34275" rIns="68575" bIns="34275" anchor="ctr" anchorCtr="false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pPr/>
            <a:endParaRPr/>
          </a:p>
        </p:txBody>
      </p:sp>
      <p:sp>
        <p:nvSpPr>
          <p:cNvPr id="68" name="Shape 52"/>
          <p:cNvSpPr txBox="true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true" wrap="square" lIns="68575" tIns="34275" rIns="68575" bIns="34275" anchor="ctr" anchorCtr="false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pPr/>
            <a:endParaRPr/>
          </a:p>
        </p:txBody>
      </p:sp>
      <p:sp>
        <p:nvSpPr>
          <p:cNvPr id="69" name="Shape 53"/>
          <p:cNvSpPr txBox="true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true" wrap="square" lIns="68575" tIns="34275" rIns="68575" bIns="34275" anchor="ctr" anchorCtr="false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false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p="http://schemas.openxmlformats.org/presentationml/2006/main" xmlns:a="http://schemas.openxmlformats.org/drawingml/2006/main" type="vertTitleAndTx">
  <p:cSld name="VERTICAL_TITLE_AND_VERTICAL_TEXT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5"/>
          <p:cNvSpPr txBox="true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true" wrap="square" lIns="68575" tIns="34275" rIns="68575" bIns="34275" anchor="ctr" anchorCtr="false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pPr/>
            <a:endParaRPr/>
          </a:p>
        </p:txBody>
      </p:sp>
      <p:sp>
        <p:nvSpPr>
          <p:cNvPr id="15" name="Shape 16"/>
          <p:cNvSpPr txBox="true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true" wrap="square" lIns="68575" tIns="34275" rIns="68575" bIns="34275" anchor="t" anchorCtr="false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pPr/>
            <a:endParaRPr/>
          </a:p>
        </p:txBody>
      </p:sp>
      <p:sp>
        <p:nvSpPr>
          <p:cNvPr id="16" name="Shape 17"/>
          <p:cNvSpPr txBox="true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true" wrap="square" lIns="68575" tIns="34275" rIns="68575" bIns="34275" anchor="ctr" anchorCtr="false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pPr/>
            <a:endParaRPr/>
          </a:p>
        </p:txBody>
      </p:sp>
      <p:sp>
        <p:nvSpPr>
          <p:cNvPr id="17" name="Shape 18"/>
          <p:cNvSpPr txBox="true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true" wrap="square" lIns="68575" tIns="34275" rIns="68575" bIns="34275" anchor="ctr" anchorCtr="false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pPr/>
            <a:endParaRPr/>
          </a:p>
        </p:txBody>
      </p:sp>
      <p:sp>
        <p:nvSpPr>
          <p:cNvPr id="18" name="Shape 19"/>
          <p:cNvSpPr txBox="true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true" wrap="square" lIns="68575" tIns="34275" rIns="68575" bIns="34275" anchor="ctr" anchorCtr="false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false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p="http://schemas.openxmlformats.org/presentationml/2006/main" xmlns:a="http://schemas.openxmlformats.org/drawingml/2006/main" type="title">
  <p:cSld>
    <p:spTree>
      <p:nvGrpSpPr>
        <p:cNvPr id="7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0" Type="http://schemas.openxmlformats.org/officeDocument/2006/relationships/slideLayout" Target="../slideLayouts/slideLayout1.xml" /><Relationship Id="rId8" Type="http://schemas.openxmlformats.org/officeDocument/2006/relationships/slideLayout" Target="../slideLayouts/slideLayout9.xml" /><Relationship Id="rId5" Type="http://schemas.openxmlformats.org/officeDocument/2006/relationships/slideLayout" Target="../slideLayouts/slideLayout6.xml" /><Relationship Id="rId3" Type="http://schemas.openxmlformats.org/officeDocument/2006/relationships/slideLayout" Target="../slideLayouts/slideLayout4.xml" /><Relationship Id="rId10" Type="http://schemas.openxmlformats.org/officeDocument/2006/relationships/slideLayout" Target="../slideLayouts/slideLayout11.xml" /><Relationship Id="rId11" Type="http://schemas.openxmlformats.org/officeDocument/2006/relationships/theme" Target="../theme/theme1.xml" /><Relationship Id="rId2" Type="http://schemas.openxmlformats.org/officeDocument/2006/relationships/slideLayout" Target="../slideLayouts/slideLayout3.xml" /><Relationship Id="rId4" Type="http://schemas.openxmlformats.org/officeDocument/2006/relationships/slideLayout" Target="../slideLayouts/slideLayout5.xml" /><Relationship Id="rId6" Type="http://schemas.openxmlformats.org/officeDocument/2006/relationships/slideLayout" Target="../slideLayouts/slideLayout7.xml" /><Relationship Id="rId7" Type="http://schemas.openxmlformats.org/officeDocument/2006/relationships/slideLayout" Target="../slideLayouts/slideLayout8.xml" /><Relationship Id="rId9" Type="http://schemas.openxmlformats.org/officeDocument/2006/relationships/slideLayout" Target="../slideLayouts/slideLayout10.xml" /></Relationships>
</file>

<file path=ppt/slideMasters/_rels/slideMaster2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 /><Relationship Id="rId0" Type="http://schemas.openxmlformats.org/officeDocument/2006/relationships/slideLayout" Target="../slideLayouts/slideLayout12.xml" 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 txBox="true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true" wrap="square" lIns="68575" tIns="34275" rIns="68575" bIns="34275" anchor="ctr" anchorCtr="false">
            <a:normAutofit/>
          </a:bodyPr>
          <a:lstStyle>
            <a:lvl1pPr marR="0" lvl="0" algn="l" rtl="false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false" i="false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pPr/>
            <a:endParaRPr/>
          </a:p>
        </p:txBody>
      </p:sp>
      <p:sp>
        <p:nvSpPr>
          <p:cNvPr id="3" name="Shape 2"/>
          <p:cNvSpPr txBox="true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true" wrap="square" lIns="68575" tIns="34275" rIns="68575" bIns="34275" anchor="t" anchorCtr="false">
            <a:normAutofit/>
          </a:bodyPr>
          <a:lstStyle>
            <a:lvl1pPr marL="457200" marR="0" lvl="0" indent="-361950" algn="l" rtl="false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false" i="false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false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false" i="false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false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false" i="false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false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false" i="false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false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false" i="false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false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false" i="false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false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false" i="false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false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false" i="false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false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false" i="false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/>
            <a:endParaRPr/>
          </a:p>
        </p:txBody>
      </p:sp>
      <p:sp>
        <p:nvSpPr>
          <p:cNvPr id="4" name="Shape 3"/>
          <p:cNvSpPr txBox="true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true" wrap="square" lIns="68575" tIns="34275" rIns="68575" bIns="34275" anchor="ctr" anchorCtr="false">
            <a:noAutofit/>
          </a:bodyPr>
          <a:lstStyle>
            <a:lvl1pPr marR="0" lvl="0" algn="l" rtl="false">
              <a:spcBef>
                <a:spcPts val="0"/>
              </a:spcBef>
              <a:spcAft>
                <a:spcPts val="0"/>
              </a:spcAft>
              <a:buSzPts val="1100"/>
              <a:buNone/>
              <a:defRPr sz="900" b="false" i="false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false">
              <a:spcBef>
                <a:spcPts val="0"/>
              </a:spcBef>
              <a:spcAft>
                <a:spcPts val="0"/>
              </a:spcAft>
              <a:buSzPts val="1100"/>
              <a:buNone/>
              <a:defRPr sz="1400" b="false" i="false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false">
              <a:spcBef>
                <a:spcPts val="0"/>
              </a:spcBef>
              <a:spcAft>
                <a:spcPts val="0"/>
              </a:spcAft>
              <a:buSzPts val="1100"/>
              <a:buNone/>
              <a:defRPr sz="1400" b="false" i="false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false">
              <a:spcBef>
                <a:spcPts val="0"/>
              </a:spcBef>
              <a:spcAft>
                <a:spcPts val="0"/>
              </a:spcAft>
              <a:buSzPts val="1100"/>
              <a:buNone/>
              <a:defRPr sz="1400" b="false" i="false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false">
              <a:spcBef>
                <a:spcPts val="0"/>
              </a:spcBef>
              <a:spcAft>
                <a:spcPts val="0"/>
              </a:spcAft>
              <a:buSzPts val="1100"/>
              <a:buNone/>
              <a:defRPr sz="1400" b="false" i="false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false">
              <a:spcBef>
                <a:spcPts val="0"/>
              </a:spcBef>
              <a:spcAft>
                <a:spcPts val="0"/>
              </a:spcAft>
              <a:buSzPts val="1100"/>
              <a:buNone/>
              <a:defRPr sz="1400" b="false" i="false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false">
              <a:spcBef>
                <a:spcPts val="0"/>
              </a:spcBef>
              <a:spcAft>
                <a:spcPts val="0"/>
              </a:spcAft>
              <a:buSzPts val="1100"/>
              <a:buNone/>
              <a:defRPr sz="1400" b="false" i="false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false">
              <a:spcBef>
                <a:spcPts val="0"/>
              </a:spcBef>
              <a:spcAft>
                <a:spcPts val="0"/>
              </a:spcAft>
              <a:buSzPts val="1100"/>
              <a:buNone/>
              <a:defRPr sz="1400" b="false" i="false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false">
              <a:spcBef>
                <a:spcPts val="0"/>
              </a:spcBef>
              <a:spcAft>
                <a:spcPts val="0"/>
              </a:spcAft>
              <a:buSzPts val="1100"/>
              <a:buNone/>
              <a:defRPr sz="1400" b="false" i="false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/>
            <a:endParaRPr/>
          </a:p>
        </p:txBody>
      </p:sp>
      <p:sp>
        <p:nvSpPr>
          <p:cNvPr id="5" name="Shape 4"/>
          <p:cNvSpPr txBox="true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true" wrap="square" lIns="68575" tIns="34275" rIns="68575" bIns="34275" anchor="ctr" anchorCtr="false">
            <a:noAutofit/>
          </a:bodyPr>
          <a:lstStyle>
            <a:lvl1pPr marR="0" lvl="0" algn="ctr" rtl="false">
              <a:spcBef>
                <a:spcPts val="0"/>
              </a:spcBef>
              <a:spcAft>
                <a:spcPts val="0"/>
              </a:spcAft>
              <a:buSzPts val="1100"/>
              <a:buNone/>
              <a:defRPr sz="900" b="false" i="false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false">
              <a:spcBef>
                <a:spcPts val="0"/>
              </a:spcBef>
              <a:spcAft>
                <a:spcPts val="0"/>
              </a:spcAft>
              <a:buSzPts val="1100"/>
              <a:buNone/>
              <a:defRPr sz="1400" b="false" i="false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false">
              <a:spcBef>
                <a:spcPts val="0"/>
              </a:spcBef>
              <a:spcAft>
                <a:spcPts val="0"/>
              </a:spcAft>
              <a:buSzPts val="1100"/>
              <a:buNone/>
              <a:defRPr sz="1400" b="false" i="false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false">
              <a:spcBef>
                <a:spcPts val="0"/>
              </a:spcBef>
              <a:spcAft>
                <a:spcPts val="0"/>
              </a:spcAft>
              <a:buSzPts val="1100"/>
              <a:buNone/>
              <a:defRPr sz="1400" b="false" i="false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false">
              <a:spcBef>
                <a:spcPts val="0"/>
              </a:spcBef>
              <a:spcAft>
                <a:spcPts val="0"/>
              </a:spcAft>
              <a:buSzPts val="1100"/>
              <a:buNone/>
              <a:defRPr sz="1400" b="false" i="false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false">
              <a:spcBef>
                <a:spcPts val="0"/>
              </a:spcBef>
              <a:spcAft>
                <a:spcPts val="0"/>
              </a:spcAft>
              <a:buSzPts val="1100"/>
              <a:buNone/>
              <a:defRPr sz="1400" b="false" i="false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false">
              <a:spcBef>
                <a:spcPts val="0"/>
              </a:spcBef>
              <a:spcAft>
                <a:spcPts val="0"/>
              </a:spcAft>
              <a:buSzPts val="1100"/>
              <a:buNone/>
              <a:defRPr sz="1400" b="false" i="false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false">
              <a:spcBef>
                <a:spcPts val="0"/>
              </a:spcBef>
              <a:spcAft>
                <a:spcPts val="0"/>
              </a:spcAft>
              <a:buSzPts val="1100"/>
              <a:buNone/>
              <a:defRPr sz="1400" b="false" i="false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false">
              <a:spcBef>
                <a:spcPts val="0"/>
              </a:spcBef>
              <a:spcAft>
                <a:spcPts val="0"/>
              </a:spcAft>
              <a:buSzPts val="1100"/>
              <a:buNone/>
              <a:defRPr sz="1400" b="false" i="false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/>
            <a:endParaRPr/>
          </a:p>
        </p:txBody>
      </p:sp>
      <p:sp>
        <p:nvSpPr>
          <p:cNvPr id="6" name="Shape 5"/>
          <p:cNvSpPr txBox="true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true" wrap="square" lIns="68575" tIns="34275" rIns="68575" bIns="34275" anchor="ctr" anchorCtr="false">
            <a:noAutofit/>
          </a:bodyPr>
          <a:lstStyle>
            <a:lvl1pPr marL="0" marR="0" lvl="0" indent="0" algn="r" rtl="false">
              <a:spcBef>
                <a:spcPts val="0"/>
              </a:spcBef>
              <a:buNone/>
              <a:defRPr sz="900" b="false" i="false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false">
              <a:spcBef>
                <a:spcPts val="0"/>
              </a:spcBef>
              <a:buNone/>
              <a:defRPr sz="900" b="false" i="false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false">
              <a:spcBef>
                <a:spcPts val="0"/>
              </a:spcBef>
              <a:buNone/>
              <a:defRPr sz="900" b="false" i="false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false">
              <a:spcBef>
                <a:spcPts val="0"/>
              </a:spcBef>
              <a:buNone/>
              <a:defRPr sz="900" b="false" i="false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false">
              <a:spcBef>
                <a:spcPts val="0"/>
              </a:spcBef>
              <a:buNone/>
              <a:defRPr sz="900" b="false" i="false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false">
              <a:spcBef>
                <a:spcPts val="0"/>
              </a:spcBef>
              <a:buNone/>
              <a:defRPr sz="900" b="false" i="false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false">
              <a:spcBef>
                <a:spcPts val="0"/>
              </a:spcBef>
              <a:buNone/>
              <a:defRPr sz="900" b="false" i="false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false">
              <a:spcBef>
                <a:spcPts val="0"/>
              </a:spcBef>
              <a:buNone/>
              <a:defRPr sz="900" b="false" i="false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false">
              <a:spcBef>
                <a:spcPts val="0"/>
              </a:spcBef>
              <a:buNone/>
              <a:defRPr sz="900" b="false" i="false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false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0"/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false" hdr="false" ftr="false" dt="false"/>
  <p:txStyles>
    <p:titleStyle>
      <a:defPPr marR="0" lvl="0" algn="l" rtl="false">
        <a:lnSpc>
          <a:spcPct val="100000"/>
        </a:lnSpc>
        <a:spcBef>
          <a:spcPts val="0"/>
        </a:spcBef>
        <a:spcAft>
          <a:spcPts val="0"/>
        </a:spcAft>
      </a:defPPr>
      <a:lvl1pPr marR="0" lvl="0" algn="l" rtl="false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false" i="false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false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false" i="false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false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false" i="false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false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false" i="false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false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false" i="false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false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false" i="false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false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false" i="false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false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false" i="false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false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false" i="false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false">
        <a:lnSpc>
          <a:spcPct val="100000"/>
        </a:lnSpc>
        <a:spcBef>
          <a:spcPts val="0"/>
        </a:spcBef>
        <a:spcAft>
          <a:spcPts val="0"/>
        </a:spcAft>
      </a:defPPr>
      <a:lvl1pPr marR="0" lvl="0" algn="l" rtl="false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false" i="false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false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false" i="false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false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false" i="false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false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false" i="false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false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false" i="false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false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false" i="false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false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false" i="false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false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false" i="false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false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false" i="false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false">
        <a:lnSpc>
          <a:spcPct val="100000"/>
        </a:lnSpc>
        <a:spcBef>
          <a:spcPts val="0"/>
        </a:spcBef>
        <a:spcAft>
          <a:spcPts val="0"/>
        </a:spcAft>
      </a:defPPr>
      <a:lvl1pPr marR="0" lvl="0" algn="l" rtl="false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false" i="false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false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false" i="false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false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false" i="false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false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false" i="false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false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false" i="false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false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false" i="false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false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false" i="false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false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false" i="false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false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false" i="false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p="http://schemas.openxmlformats.org/presentationml/2006/main" xmlns:r="http://schemas.openxmlformats.org/officeDocument/2006/relationships" xmlns:a="http://schemas.openxmlformats.org/drawingml/2006/main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0"/>
  </p:sldLayoutIdLst>
  <p:hf sldNum="false" hdr="false" ftr="false" dt="false"/>
  <p:txStyles>
    <p:titleStyle>
      <a:defPPr marR="0" lvl="0" algn="l" rtl="false">
        <a:lnSpc>
          <a:spcPct val="100000"/>
        </a:lnSpc>
        <a:spcBef>
          <a:spcPts val="0"/>
        </a:spcBef>
        <a:spcAft>
          <a:spcPts val="0"/>
        </a:spcAft>
      </a:defPPr>
      <a:lvl1pPr marR="0" lvl="0" algn="l" rtl="false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false" i="false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false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false" i="false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false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false" i="false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false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false" i="false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false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false" i="false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false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false" i="false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false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false" i="false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false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false" i="false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false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false" i="false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false">
        <a:lnSpc>
          <a:spcPct val="100000"/>
        </a:lnSpc>
        <a:spcBef>
          <a:spcPts val="0"/>
        </a:spcBef>
        <a:spcAft>
          <a:spcPts val="0"/>
        </a:spcAft>
      </a:defPPr>
      <a:lvl1pPr marR="0" lvl="0" algn="l" rtl="false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false" i="false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false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false" i="false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false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false" i="false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false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false" i="false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false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false" i="false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false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false" i="false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false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false" i="false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false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false" i="false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false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false" i="false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false">
        <a:lnSpc>
          <a:spcPct val="100000"/>
        </a:lnSpc>
        <a:spcBef>
          <a:spcPts val="0"/>
        </a:spcBef>
        <a:spcAft>
          <a:spcPts val="0"/>
        </a:spcAft>
      </a:defPPr>
      <a:lvl1pPr marR="0" lvl="0" algn="l" rtl="false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false" i="false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false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false" i="false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false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false" i="false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false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false" i="false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false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false" i="false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false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false" i="false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false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false" i="false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false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false" i="false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false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false" i="false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2.xml" /><Relationship Id="rId5" Type="http://schemas.openxmlformats.org/officeDocument/2006/relationships/image" Target="media/image4.svg" /><Relationship Id="rId1" Type="http://schemas.openxmlformats.org/officeDocument/2006/relationships/notesSlide" Target="../notesSlides/notesSlide1.xml" /><Relationship Id="rId3" Type="http://schemas.openxmlformats.org/officeDocument/2006/relationships/image" Target="media/image2.svg" /><Relationship Id="rId2" Type="http://schemas.openxmlformats.org/officeDocument/2006/relationships/image" Target="media/image1.jpeg" /><Relationship Id="rId4" Type="http://schemas.openxmlformats.org/officeDocument/2006/relationships/image" Target="media/image3.svg" 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2.xml" /><Relationship Id="rId0" Type="http://schemas.openxmlformats.org/officeDocument/2006/relationships/slideLayout" Target="../slideLayouts/slideLayout12.xml" /><Relationship Id="rId2" Type="http://schemas.openxmlformats.org/officeDocument/2006/relationships/image" Target="media/image5.svg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2.xml" /><Relationship Id="rId1" Type="http://schemas.openxmlformats.org/officeDocument/2006/relationships/notesSlide" Target="../notesSlides/notesSlide3.xml" /><Relationship Id="rId2" Type="http://schemas.openxmlformats.org/officeDocument/2006/relationships/image" Target="media/image6.jpeg" /><Relationship Id="rId6" Type="http://schemas.openxmlformats.org/officeDocument/2006/relationships/image" Target="media/image10.svg" /><Relationship Id="rId3" Type="http://schemas.openxmlformats.org/officeDocument/2006/relationships/image" Target="media/image7.svg" /><Relationship Id="rId4" Type="http://schemas.openxmlformats.org/officeDocument/2006/relationships/image" Target="media/image8.svg" /><Relationship Id="rId5" Type="http://schemas.openxmlformats.org/officeDocument/2006/relationships/image" Target="media/image9.svg" /><Relationship Id="rId7" Type="http://schemas.openxmlformats.org/officeDocument/2006/relationships/image" Target="media/image11.svg" /><Relationship Id="rId8" Type="http://schemas.openxmlformats.org/officeDocument/2006/relationships/image" Target="media/image12.svg" /></Relationships>
</file>

<file path=ppt/slides/_rels/slide4.xml.rels><?xml version="1.0" encoding="UTF-8" standalone="yes"?><Relationships xmlns="http://schemas.openxmlformats.org/package/2006/relationships"><Relationship Id="rId5" Type="http://schemas.openxmlformats.org/officeDocument/2006/relationships/image" Target="media/image14.svg" /><Relationship Id="rId3" Type="http://schemas.openxmlformats.org/officeDocument/2006/relationships/image" Target="media/image13.svg" /><Relationship Id="rId0" Type="http://schemas.openxmlformats.org/officeDocument/2006/relationships/slideLayout" Target="../slideLayouts/slideLayout12.xml" /><Relationship Id="rId1" Type="http://schemas.openxmlformats.org/officeDocument/2006/relationships/notesSlide" Target="../notesSlides/notesSlide4.xml" /><Relationship Id="rId2" Type="http://schemas.openxmlformats.org/officeDocument/2006/relationships/image" Target="media/image1.jpeg" /><Relationship Id="rId6" Type="http://schemas.openxmlformats.org/officeDocument/2006/relationships/image" Target="media/image15.svg" /><Relationship Id="rId4" Type="http://schemas.openxmlformats.org/officeDocument/2006/relationships/image" Target="media/image8.svg" /><Relationship Id="rId7" Type="http://schemas.openxmlformats.org/officeDocument/2006/relationships/image" Target="media/image5.svg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2.xml" /><Relationship Id="rId1" Type="http://schemas.openxmlformats.org/officeDocument/2006/relationships/notesSlide" Target="../notesSlides/notesSlide5.xml" /><Relationship Id="rId10" Type="http://schemas.openxmlformats.org/officeDocument/2006/relationships/image" Target="media/image23.svg" /><Relationship Id="rId4" Type="http://schemas.openxmlformats.org/officeDocument/2006/relationships/image" Target="media/image17.svg" /><Relationship Id="rId6" Type="http://schemas.openxmlformats.org/officeDocument/2006/relationships/image" Target="media/image19.svg" /><Relationship Id="rId2" Type="http://schemas.openxmlformats.org/officeDocument/2006/relationships/image" Target="media/image16.jpeg" /><Relationship Id="rId5" Type="http://schemas.openxmlformats.org/officeDocument/2006/relationships/image" Target="media/image18.svg" /><Relationship Id="rId3" Type="http://schemas.openxmlformats.org/officeDocument/2006/relationships/image" Target="media/image9.svg" /><Relationship Id="rId7" Type="http://schemas.openxmlformats.org/officeDocument/2006/relationships/image" Target="media/image20.svg" /><Relationship Id="rId8" Type="http://schemas.openxmlformats.org/officeDocument/2006/relationships/image" Target="media/image21.svg" /><Relationship Id="rId9" Type="http://schemas.openxmlformats.org/officeDocument/2006/relationships/image" Target="media/image22.svg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2.xml" /><Relationship Id="rId1" Type="http://schemas.openxmlformats.org/officeDocument/2006/relationships/notesSlide" Target="../notesSlides/notesSlide6.xml" /><Relationship Id="rId2" Type="http://schemas.openxmlformats.org/officeDocument/2006/relationships/image" Target="media/image6.jpeg" /><Relationship Id="rId3" Type="http://schemas.openxmlformats.org/officeDocument/2006/relationships/image" Target="media/image24.svg" /><Relationship Id="rId6" Type="http://schemas.openxmlformats.org/officeDocument/2006/relationships/image" Target="media/image27.svg" /><Relationship Id="rId4" Type="http://schemas.openxmlformats.org/officeDocument/2006/relationships/image" Target="media/image25.svg" /><Relationship Id="rId7" Type="http://schemas.openxmlformats.org/officeDocument/2006/relationships/image" Target="media/image28.svg" /><Relationship Id="rId5" Type="http://schemas.openxmlformats.org/officeDocument/2006/relationships/image" Target="media/image26.svg" /><Relationship Id="rId8" Type="http://schemas.openxmlformats.org/officeDocument/2006/relationships/image" Target="media/image29.svg" /><Relationship Id="rId9" Type="http://schemas.openxmlformats.org/officeDocument/2006/relationships/image" Target="media/image30.svg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2.xml" /><Relationship Id="rId1" Type="http://schemas.openxmlformats.org/officeDocument/2006/relationships/notesSlide" Target="../notesSlides/notesSlide7.xml" /><Relationship Id="rId6" Type="http://schemas.openxmlformats.org/officeDocument/2006/relationships/image" Target="media/image35.svg" /><Relationship Id="rId4" Type="http://schemas.openxmlformats.org/officeDocument/2006/relationships/image" Target="media/image33.svg" /><Relationship Id="rId2" Type="http://schemas.openxmlformats.org/officeDocument/2006/relationships/image" Target="media/image31.jpeg" /><Relationship Id="rId3" Type="http://schemas.openxmlformats.org/officeDocument/2006/relationships/image" Target="media/image32.svg" /><Relationship Id="rId5" Type="http://schemas.openxmlformats.org/officeDocument/2006/relationships/image" Target="media/image34.svg" /></Relationships>
</file>

<file path=ppt/slides/slide1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bg>
      <p:bgPr>
        <a:solidFill>
          <a:srgbClr val="111827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true"/>
          </p:cNvPicPr>
          <p:nvPr/>
        </p:nvPicPr>
        <p:blipFill>
          <a:blip r:embed="rId2"/>
          <a:srcRect l="0" t="21875" r="0" b="21875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11827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false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 rot="0" flipH="false" flipV="false">
            <a:off x="609600" y="1016000"/>
            <a:ext cx="109728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false" anchor="ctr" anchorCtr="false"/>
          <a:lstStyle/>
          <a:p>
            <a:pPr indent="0" algn="ctr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false" i="false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4800" b="true" i="false" u="none" strike="noStrike">
                <a:solidFill>
                  <a:srgbClr val="F59E0B">
                    <a:alpha val="100000"/>
                  </a:srgbClr>
                </a:solidFill>
                <a:latin typeface="PingFang SC"/>
                <a:ea typeface="PingFang SC"/>
                <a:cs typeface="PingFang SC"/>
                <a:sym typeface="PingFang SC"/>
              </a:rPr>
              <a:t>AI Investment Assistant</a:t>
            </a:r>
            <a:endParaRPr/>
          </a:p>
        </p:txBody>
      </p:sp>
      <p:sp>
        <p:nvSpPr>
          <p:cNvPr id="5" name="AutoShape 5"/>
          <p:cNvSpPr/>
          <p:nvPr/>
        </p:nvSpPr>
        <p:spPr>
          <a:xfrm rot="0" flipH="false" flipV="false">
            <a:off x="609600" y="1841500"/>
            <a:ext cx="109728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false" anchor="ctr" anchorCtr="false"/>
          <a:lstStyle/>
          <a:p>
            <a:pPr indent="0" algn="ctr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false" i="false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2800" b="false" i="false" u="none" strike="noStrike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  <a:sym typeface="PingFang SC"/>
              </a:rPr>
              <a:t>AI</a:t>
            </a:r>
            <a:r>
              <a:rPr lang="zh-CN" sz="2800" b="false" i="false" u="none" strike="noStrike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  <a:sym typeface="PingFang SC"/>
              </a:rPr>
              <a:t>金融</a:t>
            </a:r>
            <a:r>
              <a:rPr lang="en-US" sz="2800" b="false" i="false" u="none" strike="noStrike">
                <a:solidFill>
                  <a:srgbClr val="FFFFFF">
                    <a:alpha val="100000"/>
                  </a:srgbClr>
                </a:solidFill>
                <a:latin typeface="PingFang SC"/>
                <a:ea typeface="PingFang SC"/>
                <a:cs typeface="PingFang SC"/>
                <a:sym typeface="PingFang SC"/>
              </a:rPr>
              <a:t>投资助手</a:t>
            </a:r>
            <a:endParaRPr/>
          </a:p>
        </p:txBody>
      </p:sp>
      <p:sp>
        <p:nvSpPr>
          <p:cNvPr id="6" name="AutoShape 6"/>
          <p:cNvSpPr/>
          <p:nvPr/>
        </p:nvSpPr>
        <p:spPr>
          <a:xfrm rot="0" flipH="false" flipV="false">
            <a:off x="1411880" y="3048000"/>
            <a:ext cx="4572000" cy="1524000"/>
          </a:xfrm>
          <a:prstGeom prst="roundRect">
            <a:avLst>
              <a:gd name="adj" fmla="val 10000"/>
            </a:avLst>
          </a:prstGeom>
          <a:solidFill>
            <a:srgbClr val="1F2937">
              <a:alpha val="70000"/>
            </a:srgbClr>
          </a:solidFill>
          <a:ln w="12700" cap="flat" cmpd="sng">
            <a:solidFill>
              <a:srgbClr val="F59E0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false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true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false" flipV="false">
            <a:off x="1828800" y="33528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 rot="0" flipH="false" flipV="false">
            <a:off x="2336800" y="3352800"/>
            <a:ext cx="355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false" anchor="ctr" anchorCtr="false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true" i="false" u="none" strike="noStrike">
                <a:solidFill>
                  <a:srgbClr val="FFFFFF"/>
                </a:solidFill>
                <a:latin typeface="PingFang SC"/>
                <a:ea typeface="PingFang SC"/>
                <a:cs typeface="PingFang SC"/>
                <a:sym typeface="PingFang SC"/>
              </a:rPr>
              <a:t>AI Investment Tools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 rot="0" flipH="false" flipV="false">
            <a:off x="2336800" y="3759200"/>
            <a:ext cx="355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false" anchor="ctr" anchorCtr="false"/>
          <a:lstStyle/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false" i="false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false" i="false" u="none" strike="noStrike">
                <a:solidFill>
                  <a:srgbClr val="E5E7EB">
                    <a:alpha val="100000"/>
                  </a:srgbClr>
                </a:solidFill>
                <a:latin typeface="PingFang SC"/>
                <a:ea typeface="PingFang SC"/>
                <a:cs typeface="PingFang SC"/>
                <a:sym typeface="PingFang SC"/>
              </a:rPr>
              <a:t>（</a:t>
            </a:r>
            <a:r>
              <a:rPr lang="zh-CN" sz="1400" b="false" i="false" u="none" strike="noStrike">
                <a:solidFill>
                  <a:srgbClr val="E5E7EB">
                    <a:alpha val="100000"/>
                  </a:srgbClr>
                </a:solidFill>
                <a:latin typeface="PingFang SC"/>
                <a:ea typeface="PingFang SC"/>
                <a:cs typeface="PingFang SC"/>
                <a:sym typeface="PingFang SC"/>
              </a:rPr>
              <a:t>金融</a:t>
            </a:r>
            <a:r>
              <a:rPr lang="en-US" sz="1400" b="false" i="false" u="none" strike="noStrike">
                <a:solidFill>
                  <a:srgbClr val="E5E7EB">
                    <a:alpha val="100000"/>
                  </a:srgbClr>
                </a:solidFill>
                <a:latin typeface="PingFang SC"/>
                <a:ea typeface="PingFang SC"/>
                <a:cs typeface="PingFang SC"/>
                <a:sym typeface="PingFang SC"/>
              </a:rPr>
              <a:t>投资工具集）</a:t>
            </a:r>
            <a:endParaRPr/>
          </a:p>
        </p:txBody>
      </p:sp>
      <p:pic>
        <p:nvPicPr>
          <p:cNvPr id="10" name="Picture 10"/>
          <p:cNvPicPr>
            <a:picLocks noChangeAspect="true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false" flipV="false">
            <a:off x="5892800" y="36068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 rot="0" flipH="false" flipV="false">
            <a:off x="6208120" y="3048000"/>
            <a:ext cx="4572000" cy="1524000"/>
          </a:xfrm>
          <a:prstGeom prst="roundRect">
            <a:avLst>
              <a:gd name="adj" fmla="val 10000"/>
            </a:avLst>
          </a:prstGeom>
          <a:solidFill>
            <a:srgbClr val="1F2937">
              <a:alpha val="70000"/>
            </a:srgbClr>
          </a:solidFill>
          <a:ln w="12700" cap="flat" cmpd="sng">
            <a:solidFill>
              <a:srgbClr val="F59E0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false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true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 rot="0" flipH="false" flipV="false">
            <a:off x="6400800" y="33528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 rot="0" flipH="false" flipV="false">
            <a:off x="6908800" y="3352800"/>
            <a:ext cx="355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false" anchor="ctr" anchorCtr="false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true" i="false" u="none" strike="noStrike">
                <a:solidFill>
                  <a:srgbClr val="FFFFFF"/>
                </a:solidFill>
                <a:latin typeface="PingFang SC"/>
                <a:ea typeface="PingFang SC"/>
                <a:cs typeface="PingFang SC"/>
                <a:sym typeface="PingFang SC"/>
              </a:rPr>
              <a:t>AI Investment Agent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 rot="0" flipH="false" flipV="false">
            <a:off x="6908800" y="3759200"/>
            <a:ext cx="355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false" anchor="ctr" anchorCtr="false"/>
          <a:lstStyle/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false" i="false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false" i="false" u="none" strike="noStrike">
                <a:solidFill>
                  <a:srgbClr val="E5E7EB">
                    <a:alpha val="100000"/>
                  </a:srgbClr>
                </a:solidFill>
                <a:latin typeface="PingFang SC"/>
                <a:ea typeface="PingFang SC"/>
                <a:cs typeface="PingFang SC"/>
                <a:sym typeface="PingFang SC"/>
              </a:rPr>
              <a:t>（</a:t>
            </a:r>
            <a:r>
              <a:rPr lang="zh-CN" sz="1400" b="false" i="false" u="none" strike="noStrike">
                <a:solidFill>
                  <a:srgbClr val="E5E7EB">
                    <a:alpha val="100000"/>
                  </a:srgbClr>
                </a:solidFill>
                <a:latin typeface="PingFang SC"/>
                <a:ea typeface="PingFang SC"/>
                <a:cs typeface="PingFang SC"/>
                <a:sym typeface="PingFang SC"/>
              </a:rPr>
              <a:t>金融投资助手</a:t>
            </a:r>
            <a:r>
              <a:rPr lang="en-US" sz="1400" b="false" i="false" u="none" strike="noStrike">
                <a:solidFill>
                  <a:srgbClr val="E5E7EB">
                    <a:alpha val="100000"/>
                  </a:srgbClr>
                </a:solidFill>
                <a:latin typeface="PingFang SC"/>
                <a:ea typeface="PingFang SC"/>
                <a:cs typeface="PingFang SC"/>
                <a:sym typeface="PingFang SC"/>
              </a:rPr>
              <a:t>智能体）</a:t>
            </a:r>
            <a:endParaRPr/>
          </a:p>
        </p:txBody>
      </p:sp>
      <p:sp>
        <p:nvSpPr>
          <p:cNvPr id="15" name="AutoShape 15"/>
          <p:cNvSpPr/>
          <p:nvPr/>
        </p:nvSpPr>
        <p:spPr>
          <a:xfrm rot="0" flipH="false" flipV="false">
            <a:off x="609600" y="5334000"/>
            <a:ext cx="109728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false" anchor="ctr" anchorCtr="false"/>
          <a:lstStyle/>
          <a:p>
            <a:pPr indent="0" algn="ctr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false" i="false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false" i="false" u="none" strike="noStrike">
                <a:solidFill>
                  <a:srgbClr val="E5E7EB">
                    <a:alpha val="100000"/>
                  </a:srgbClr>
                </a:solidFill>
                <a:latin typeface="PingFang SC"/>
                <a:ea typeface="PingFang SC"/>
                <a:cs typeface="PingFang SC"/>
                <a:sym typeface="PingFang SC"/>
              </a:rPr>
              <a:t>powered by</a:t>
            </a:r>
            <a:endParaRPr/>
          </a:p>
          <a:p>
            <a:pPr indent="0" algn="ctr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false" i="false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400" b="false" i="false" u="none" strike="noStrike">
                <a:solidFill>
                  <a:srgbClr val="E5E7EB">
                    <a:alpha val="100000"/>
                  </a:srgbClr>
                </a:solidFill>
                <a:latin typeface="PingFang SC"/>
                <a:ea typeface="PingFang SC"/>
                <a:cs typeface="PingFang SC"/>
                <a:sym typeface="PingFang SC"/>
              </a:rPr>
              <a:t> OpenJiuwen Agent Studio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bg>
      <p:bgPr>
        <a:solidFill>
          <a:srgbClr val="111827">
            <a:alpha val="100000"/>
          </a:srgbClr>
        </a:solidFill>
      </p:bgPr>
    </p:bg>
    <p:spTree>
      <p:nvGrpSpPr>
        <p:cNvPr id="1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AutoShape 2"/>
          <p:cNvSpPr/>
          <p:nvPr/>
        </p:nvSpPr>
        <p:spPr>
          <a:xfrm rot="0" flipH="false" flipV="false">
            <a:off x="1016000" y="508000"/>
            <a:ext cx="762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false" anchor="ctr" anchorCtr="false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true" i="false" u="none" strike="noStrike">
                <a:solidFill>
                  <a:srgbClr val="F59E0B"/>
                </a:solidFill>
                <a:latin typeface="PingFang SC"/>
                <a:ea typeface="PingFang SC"/>
                <a:cs typeface="PingFang SC"/>
                <a:sym typeface="PingFang SC"/>
              </a:rPr>
              <a:t>AI投资助手整体架构</a:t>
            </a:r>
            <a:endParaRPr lang="en-US" sz="1100"/>
          </a:p>
        </p:txBody>
      </p:sp>
      <p:cxnSp>
        <p:nvCxnSpPr>
          <p:cNvPr id="18" name="Connector 3"/>
          <p:cNvCxnSpPr/>
          <p:nvPr/>
        </p:nvCxnSpPr>
        <p:spPr>
          <a:xfrm rot="-4297" flipH="false" flipV="false">
            <a:off x="1016004" y="11620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59E0B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" name="AutoShape 4"/>
          <p:cNvSpPr/>
          <p:nvPr/>
        </p:nvSpPr>
        <p:spPr>
          <a:xfrm rot="0" flipH="false" flipV="false">
            <a:off x="1016000" y="1422400"/>
            <a:ext cx="1016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false" anchor="ctr" anchorCtr="false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true" i="false" u="none" strike="noStrike">
                <a:solidFill>
                  <a:srgbClr val="3B82F6"/>
                </a:solidFill>
                <a:latin typeface="PingFang SC"/>
                <a:ea typeface="PingFang SC"/>
                <a:cs typeface="PingFang SC"/>
                <a:sym typeface="PingFang SC"/>
              </a:rPr>
              <a:t>数据获取层</a:t>
            </a:r>
            <a:endParaRPr lang="en-US" sz="1100"/>
          </a:p>
        </p:txBody>
      </p:sp>
      <p:sp>
        <p:nvSpPr>
          <p:cNvPr id="20" name="AutoShape 5"/>
          <p:cNvSpPr/>
          <p:nvPr/>
        </p:nvSpPr>
        <p:spPr>
          <a:xfrm rot="0" flipH="false" flipV="false">
            <a:off x="1016000" y="1828800"/>
            <a:ext cx="3175000" cy="508000"/>
          </a:xfrm>
          <a:prstGeom prst="roundRect">
            <a:avLst>
              <a:gd name="adj" fmla="val 20000"/>
            </a:avLst>
          </a:prstGeom>
          <a:solidFill>
            <a:srgbClr val="3B82F6">
              <a:alpha val="15000"/>
            </a:srgbClr>
          </a:solidFill>
          <a:ln w="12700" cap="flat" cmpd="sng">
            <a:solidFill>
              <a:srgbClr val="3B82F6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false" anchor="ctr" anchorCtr="false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false" i="false" u="none" strike="noStrike">
                <a:solidFill>
                  <a:srgbClr val="E5E7EB"/>
                </a:solidFill>
                <a:latin typeface="PingFang SC"/>
                <a:ea typeface="PingFang SC"/>
                <a:cs typeface="PingFang SC"/>
                <a:sym typeface="PingFang SC"/>
              </a:rPr>
              <a:t>股价数据 / prices</a:t>
            </a:r>
            <a:endParaRPr lang="en-US" sz="1100"/>
          </a:p>
        </p:txBody>
      </p:sp>
      <p:sp>
        <p:nvSpPr>
          <p:cNvPr id="21" name="AutoShape 6"/>
          <p:cNvSpPr/>
          <p:nvPr/>
        </p:nvSpPr>
        <p:spPr>
          <a:xfrm rot="0" flipH="false" flipV="false">
            <a:off x="4508500" y="1828800"/>
            <a:ext cx="3175000" cy="508000"/>
          </a:xfrm>
          <a:prstGeom prst="roundRect">
            <a:avLst>
              <a:gd name="adj" fmla="val 20000"/>
            </a:avLst>
          </a:prstGeom>
          <a:solidFill>
            <a:srgbClr val="3B82F6">
              <a:alpha val="15000"/>
            </a:srgbClr>
          </a:solidFill>
          <a:ln w="12700" cap="flat" cmpd="sng">
            <a:solidFill>
              <a:srgbClr val="3B82F6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false" anchor="ctr" anchorCtr="false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false" i="false" u="none" strike="noStrike">
                <a:solidFill>
                  <a:srgbClr val="E5E7EB"/>
                </a:solidFill>
                <a:latin typeface="PingFang SC"/>
                <a:ea typeface="PingFang SC"/>
                <a:cs typeface="PingFang SC"/>
                <a:sym typeface="PingFang SC"/>
              </a:rPr>
              <a:t>财务指标 / metrics</a:t>
            </a:r>
            <a:endParaRPr lang="en-US" sz="1100"/>
          </a:p>
        </p:txBody>
      </p:sp>
      <p:sp>
        <p:nvSpPr>
          <p:cNvPr id="22" name="AutoShape 7"/>
          <p:cNvSpPr/>
          <p:nvPr/>
        </p:nvSpPr>
        <p:spPr>
          <a:xfrm rot="0" flipH="false" flipV="false">
            <a:off x="8001000" y="1828800"/>
            <a:ext cx="3175000" cy="508000"/>
          </a:xfrm>
          <a:prstGeom prst="roundRect">
            <a:avLst>
              <a:gd name="adj" fmla="val 20000"/>
            </a:avLst>
          </a:prstGeom>
          <a:solidFill>
            <a:srgbClr val="3B82F6">
              <a:alpha val="15000"/>
            </a:srgbClr>
          </a:solidFill>
          <a:ln w="12700" cap="flat" cmpd="sng">
            <a:solidFill>
              <a:srgbClr val="3B82F6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false" anchor="ctr" anchorCtr="false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false" i="false" u="none" strike="noStrike">
                <a:solidFill>
                  <a:srgbClr val="E5E7EB"/>
                </a:solidFill>
                <a:latin typeface="PingFang SC"/>
                <a:ea typeface="PingFang SC"/>
                <a:cs typeface="PingFang SC"/>
                <a:sym typeface="PingFang SC"/>
              </a:rPr>
              <a:t>新闻情绪 / news</a:t>
            </a:r>
            <a:endParaRPr lang="en-US" sz="1100"/>
          </a:p>
        </p:txBody>
      </p:sp>
      <p:pic>
        <p:nvPicPr>
          <p:cNvPr id="23" name="Picture 8"/>
          <p:cNvPicPr>
            <a:picLocks noChangeAspect="true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false" flipV="false">
            <a:off x="5943600" y="2438400"/>
            <a:ext cx="304800" cy="304800"/>
          </a:xfrm>
          <a:prstGeom prst="rect">
            <a:avLst/>
          </a:prstGeom>
        </p:spPr>
      </p:pic>
      <p:sp>
        <p:nvSpPr>
          <p:cNvPr id="24" name="AutoShape 9"/>
          <p:cNvSpPr/>
          <p:nvPr/>
        </p:nvSpPr>
        <p:spPr>
          <a:xfrm rot="0" flipH="false" flipV="false">
            <a:off x="1016000" y="2844800"/>
            <a:ext cx="1016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false" anchor="ctr" anchorCtr="false"/>
          <a:lstStyle/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false" i="false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800" b="true" i="false" u="none" strike="noStrike">
                <a:solidFill>
                  <a:srgbClr val="8B5CF6">
                    <a:alpha val="100000"/>
                  </a:srgbClr>
                </a:solidFill>
                <a:latin typeface="PingFang SC"/>
                <a:ea typeface="PingFang SC"/>
                <a:cs typeface="PingFang SC"/>
                <a:sym typeface="PingFang SC"/>
              </a:rPr>
              <a:t>数据</a:t>
            </a:r>
            <a:r>
              <a:rPr lang="en-US" sz="1800" b="true" i="false" u="none" strike="noStrike">
                <a:solidFill>
                  <a:srgbClr val="8B5CF6">
                    <a:alpha val="100000"/>
                  </a:srgbClr>
                </a:solidFill>
                <a:latin typeface="PingFang SC"/>
                <a:ea typeface="PingFang SC"/>
                <a:cs typeface="PingFang SC"/>
                <a:sym typeface="PingFang SC"/>
              </a:rPr>
              <a:t>分析层</a:t>
            </a:r>
            <a:endParaRPr/>
          </a:p>
        </p:txBody>
      </p:sp>
      <p:sp>
        <p:nvSpPr>
          <p:cNvPr id="25" name="AutoShape 10"/>
          <p:cNvSpPr/>
          <p:nvPr/>
        </p:nvSpPr>
        <p:spPr>
          <a:xfrm rot="0" flipH="false" flipV="false">
            <a:off x="1016000" y="3251200"/>
            <a:ext cx="3175000" cy="457200"/>
          </a:xfrm>
          <a:prstGeom prst="roundRect">
            <a:avLst>
              <a:gd name="adj" fmla="val 22222"/>
            </a:avLst>
          </a:prstGeom>
          <a:solidFill>
            <a:srgbClr val="8B5CF6">
              <a:alpha val="15000"/>
            </a:srgbClr>
          </a:solidFill>
          <a:ln w="12700" cap="flat" cmpd="sng">
            <a:solidFill>
              <a:srgbClr val="8B5CF6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false" anchor="ctr" anchorCtr="false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false" i="false" u="none" strike="noStrike">
                <a:solidFill>
                  <a:srgbClr val="E5E7EB"/>
                </a:solidFill>
                <a:latin typeface="PingFang SC"/>
                <a:ea typeface="PingFang SC"/>
                <a:cs typeface="PingFang SC"/>
                <a:sym typeface="PingFang SC"/>
              </a:rPr>
              <a:t>价值投资</a:t>
            </a:r>
            <a:endParaRPr lang="en-US" sz="1100"/>
          </a:p>
        </p:txBody>
      </p:sp>
      <p:sp>
        <p:nvSpPr>
          <p:cNvPr id="26" name="AutoShape 11"/>
          <p:cNvSpPr/>
          <p:nvPr/>
        </p:nvSpPr>
        <p:spPr>
          <a:xfrm rot="0" flipH="false" flipV="false">
            <a:off x="4508500" y="3251200"/>
            <a:ext cx="3175000" cy="457200"/>
          </a:xfrm>
          <a:prstGeom prst="roundRect">
            <a:avLst>
              <a:gd name="adj" fmla="val 22222"/>
            </a:avLst>
          </a:prstGeom>
          <a:solidFill>
            <a:srgbClr val="8B5CF6">
              <a:alpha val="15000"/>
            </a:srgbClr>
          </a:solidFill>
          <a:ln w="12700" cap="flat" cmpd="sng">
            <a:solidFill>
              <a:srgbClr val="8B5CF6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false" anchor="ctr" anchorCtr="false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false" i="false" u="none" strike="noStrike">
                <a:solidFill>
                  <a:srgbClr val="E5E7EB"/>
                </a:solidFill>
                <a:latin typeface="PingFang SC"/>
                <a:ea typeface="PingFang SC"/>
                <a:cs typeface="PingFang SC"/>
                <a:sym typeface="PingFang SC"/>
              </a:rPr>
              <a:t>深度价值</a:t>
            </a:r>
            <a:endParaRPr lang="en-US" sz="1100"/>
          </a:p>
        </p:txBody>
      </p:sp>
      <p:sp>
        <p:nvSpPr>
          <p:cNvPr id="27" name="AutoShape 12"/>
          <p:cNvSpPr/>
          <p:nvPr/>
        </p:nvSpPr>
        <p:spPr>
          <a:xfrm rot="0" flipH="false" flipV="false">
            <a:off x="8001000" y="3251200"/>
            <a:ext cx="3175000" cy="457200"/>
          </a:xfrm>
          <a:prstGeom prst="roundRect">
            <a:avLst>
              <a:gd name="adj" fmla="val 22222"/>
            </a:avLst>
          </a:prstGeom>
          <a:solidFill>
            <a:srgbClr val="8B5CF6">
              <a:alpha val="15000"/>
            </a:srgbClr>
          </a:solidFill>
          <a:ln w="12700" cap="flat" cmpd="sng">
            <a:solidFill>
              <a:srgbClr val="8B5CF6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false" anchor="ctr" anchorCtr="false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false" i="false" u="none" strike="noStrike">
                <a:solidFill>
                  <a:srgbClr val="E5E7EB"/>
                </a:solidFill>
                <a:latin typeface="PingFang SC"/>
                <a:ea typeface="PingFang SC"/>
                <a:cs typeface="PingFang SC"/>
                <a:sym typeface="PingFang SC"/>
              </a:rPr>
              <a:t>成长创新</a:t>
            </a:r>
            <a:endParaRPr lang="en-US" sz="1100"/>
          </a:p>
        </p:txBody>
      </p:sp>
      <p:sp>
        <p:nvSpPr>
          <p:cNvPr id="28" name="AutoShape 13"/>
          <p:cNvSpPr/>
          <p:nvPr/>
        </p:nvSpPr>
        <p:spPr>
          <a:xfrm rot="0" flipH="false" flipV="false">
            <a:off x="1016000" y="3810000"/>
            <a:ext cx="3175000" cy="457200"/>
          </a:xfrm>
          <a:prstGeom prst="roundRect">
            <a:avLst>
              <a:gd name="adj" fmla="val 22222"/>
            </a:avLst>
          </a:prstGeom>
          <a:solidFill>
            <a:srgbClr val="8B5CF6">
              <a:alpha val="15000"/>
            </a:srgbClr>
          </a:solidFill>
          <a:ln w="12700" cap="flat" cmpd="sng">
            <a:solidFill>
              <a:srgbClr val="8B5CF6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false" anchor="ctr" anchorCtr="false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false" i="false" u="none" strike="noStrike">
                <a:solidFill>
                  <a:srgbClr val="E5E7EB"/>
                </a:solidFill>
                <a:latin typeface="PingFang SC"/>
                <a:ea typeface="PingFang SC"/>
                <a:cs typeface="PingFang SC"/>
                <a:sym typeface="PingFang SC"/>
              </a:rPr>
              <a:t>技术分析</a:t>
            </a:r>
            <a:endParaRPr lang="en-US" sz="1100"/>
          </a:p>
        </p:txBody>
      </p:sp>
      <p:sp>
        <p:nvSpPr>
          <p:cNvPr id="29" name="AutoShape 14"/>
          <p:cNvSpPr/>
          <p:nvPr/>
        </p:nvSpPr>
        <p:spPr>
          <a:xfrm rot="0" flipH="false" flipV="false">
            <a:off x="4508500" y="3810000"/>
            <a:ext cx="3175000" cy="457200"/>
          </a:xfrm>
          <a:prstGeom prst="roundRect">
            <a:avLst>
              <a:gd name="adj" fmla="val 22222"/>
            </a:avLst>
          </a:prstGeom>
          <a:solidFill>
            <a:srgbClr val="8B5CF6">
              <a:alpha val="15000"/>
            </a:srgbClr>
          </a:solidFill>
          <a:ln w="12700" cap="flat" cmpd="sng">
            <a:solidFill>
              <a:srgbClr val="8B5CF6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false" anchor="ctr" anchorCtr="false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false" i="false" u="none" strike="noStrike">
                <a:solidFill>
                  <a:srgbClr val="E5E7EB"/>
                </a:solidFill>
                <a:latin typeface="PingFang SC"/>
                <a:ea typeface="PingFang SC"/>
                <a:cs typeface="PingFang SC"/>
                <a:sym typeface="PingFang SC"/>
              </a:rPr>
              <a:t>情绪分析</a:t>
            </a:r>
            <a:endParaRPr lang="en-US" sz="1100"/>
          </a:p>
        </p:txBody>
      </p:sp>
      <p:sp>
        <p:nvSpPr>
          <p:cNvPr id="30" name="AutoShape 15"/>
          <p:cNvSpPr/>
          <p:nvPr/>
        </p:nvSpPr>
        <p:spPr>
          <a:xfrm rot="0" flipH="false" flipV="false">
            <a:off x="8001000" y="3810000"/>
            <a:ext cx="3175000" cy="457200"/>
          </a:xfrm>
          <a:prstGeom prst="roundRect">
            <a:avLst>
              <a:gd name="adj" fmla="val 22222"/>
            </a:avLst>
          </a:prstGeom>
          <a:solidFill>
            <a:srgbClr val="8B5CF6">
              <a:alpha val="15000"/>
            </a:srgbClr>
          </a:solidFill>
          <a:ln w="12700" cap="flat" cmpd="sng">
            <a:solidFill>
              <a:srgbClr val="8B5CF6">
                <a:alpha val="100000"/>
              </a:srgbClr>
            </a:solidFill>
            <a:prstDash val="dash"/>
            <a:round/>
          </a:ln>
        </p:spPr>
        <p:txBody>
          <a:bodyPr vert="horz" wrap="square" lIns="0" tIns="0" rIns="0" bIns="0" rtlCol="false" anchor="ctr" anchorCtr="false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false" i="false" u="none" strike="noStrike">
                <a:solidFill>
                  <a:srgbClr val="E5E7EB"/>
                </a:solidFill>
                <a:latin typeface="PingFang SC"/>
                <a:ea typeface="PingFang SC"/>
                <a:cs typeface="PingFang SC"/>
                <a:sym typeface="PingFang SC"/>
              </a:rPr>
              <a:t>更多...</a:t>
            </a:r>
            <a:endParaRPr lang="en-US" sz="1100"/>
          </a:p>
        </p:txBody>
      </p:sp>
      <p:pic>
        <p:nvPicPr>
          <p:cNvPr id="31" name="Picture 16"/>
          <p:cNvPicPr>
            <a:picLocks noChangeAspect="true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false" flipV="false">
            <a:off x="5943600" y="4368800"/>
            <a:ext cx="304800" cy="304800"/>
          </a:xfrm>
          <a:prstGeom prst="rect">
            <a:avLst/>
          </a:prstGeom>
        </p:spPr>
      </p:pic>
      <p:sp>
        <p:nvSpPr>
          <p:cNvPr id="32" name="AutoShape 17"/>
          <p:cNvSpPr/>
          <p:nvPr/>
        </p:nvSpPr>
        <p:spPr>
          <a:xfrm rot="0" flipH="false" flipV="false">
            <a:off x="1016000" y="4775200"/>
            <a:ext cx="1016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false" anchor="ctr" anchorCtr="false"/>
          <a:lstStyle/>
          <a:p>
            <a:pPr indent="0" algn="l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false" i="false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zh-CN" sz="1800" b="true" i="false" u="none" strike="noStrike">
                <a:solidFill>
                  <a:srgbClr val="F97316">
                    <a:alpha val="100000"/>
                  </a:srgbClr>
                </a:solidFill>
                <a:latin typeface="PingFang SC"/>
                <a:ea typeface="PingFang SC"/>
                <a:cs typeface="PingFang SC"/>
                <a:sym typeface="PingFang SC"/>
              </a:rPr>
              <a:t>投资决策</a:t>
            </a:r>
            <a:r>
              <a:rPr lang="en-US" sz="1800" b="true" i="false" u="none" strike="noStrike">
                <a:solidFill>
                  <a:srgbClr val="F97316">
                    <a:alpha val="100000"/>
                  </a:srgbClr>
                </a:solidFill>
                <a:latin typeface="PingFang SC"/>
                <a:ea typeface="PingFang SC"/>
                <a:cs typeface="PingFang SC"/>
                <a:sym typeface="PingFang SC"/>
              </a:rPr>
              <a:t>层</a:t>
            </a:r>
            <a:endParaRPr/>
          </a:p>
        </p:txBody>
      </p:sp>
      <p:sp>
        <p:nvSpPr>
          <p:cNvPr id="33" name="AutoShape 18"/>
          <p:cNvSpPr/>
          <p:nvPr/>
        </p:nvSpPr>
        <p:spPr>
          <a:xfrm rot="0" flipH="false" flipV="false">
            <a:off x="1016000" y="5181600"/>
            <a:ext cx="10160000" cy="457200"/>
          </a:xfrm>
          <a:prstGeom prst="roundRect">
            <a:avLst>
              <a:gd name="adj" fmla="val 22222"/>
            </a:avLst>
          </a:prstGeom>
          <a:solidFill>
            <a:srgbClr val="F97316">
              <a:alpha val="15000"/>
            </a:srgbClr>
          </a:solidFill>
          <a:ln w="12700" cap="flat" cmpd="sng">
            <a:solidFill>
              <a:srgbClr val="F97316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false" anchor="ctr" anchorCtr="false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false" i="false" u="none" strike="noStrike">
                <a:solidFill>
                  <a:srgbClr val="E5E7EB"/>
                </a:solidFill>
                <a:latin typeface="PingFang SC"/>
                <a:ea typeface="PingFang SC"/>
                <a:cs typeface="PingFang SC"/>
                <a:sym typeface="PingFang SC"/>
              </a:rPr>
              <a:t>波动率分析 → 持仓限制调整</a:t>
            </a:r>
            <a:endParaRPr lang="en-US" sz="1100"/>
          </a:p>
        </p:txBody>
      </p:sp>
      <p:pic>
        <p:nvPicPr>
          <p:cNvPr id="34" name="Picture 19"/>
          <p:cNvPicPr>
            <a:picLocks noChangeAspect="true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false" flipV="false">
            <a:off x="5943600" y="5740400"/>
            <a:ext cx="304800" cy="304800"/>
          </a:xfrm>
          <a:prstGeom prst="rect">
            <a:avLst/>
          </a:prstGeom>
        </p:spPr>
      </p:pic>
      <p:sp>
        <p:nvSpPr>
          <p:cNvPr id="35" name="AutoShape 20"/>
          <p:cNvSpPr/>
          <p:nvPr/>
        </p:nvSpPr>
        <p:spPr>
          <a:xfrm rot="0" flipH="false" flipV="false">
            <a:off x="1016000" y="6146800"/>
            <a:ext cx="10160000" cy="457200"/>
          </a:xfrm>
          <a:prstGeom prst="roundRect">
            <a:avLst>
              <a:gd name="adj" fmla="val 22222"/>
            </a:avLst>
          </a:prstGeom>
          <a:solidFill>
            <a:srgbClr val="F59E0B">
              <a:alpha val="15000"/>
            </a:srgbClr>
          </a:solidFill>
          <a:ln w="12700" cap="flat" cmpd="sng">
            <a:solidFill>
              <a:srgbClr val="F59E0B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false" anchor="ctr" anchorCtr="false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false" i="false" u="none" strike="noStrike">
                <a:solidFill>
                  <a:srgbClr val="E5E7EB"/>
                </a:solidFill>
                <a:latin typeface="PingFang SC"/>
                <a:ea typeface="PingFang SC"/>
                <a:cs typeface="PingFang SC"/>
                <a:sym typeface="PingFang SC"/>
              </a:rPr>
              <a:t>综合所有分析师信号 + 风险评估 → 最终交易决策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bg>
      <p:bgPr>
        <a:solidFill>
          <a:srgbClr val="111827">
            <a:alpha val="100000"/>
          </a:srgbClr>
        </a:solidFill>
      </p:bgPr>
    </p:bg>
    <p:spTree>
      <p:nvGrpSpPr>
        <p:cNvPr id="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Picture 2"/>
          <p:cNvPicPr>
            <a:picLocks noChangeAspect="true"/>
          </p:cNvPicPr>
          <p:nvPr/>
        </p:nvPicPr>
        <p:blipFill>
          <a:blip r:embed="rId2">
            <a:alphaModFix amt="50000"/>
          </a:blip>
          <a:srcRect l="0" t="21875" r="0" b="21875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8" name="AutoShape 3"/>
          <p:cNvSpPr/>
          <p:nvPr/>
        </p:nvSpPr>
        <p:spPr>
          <a:xfrm rot="0" flipH="false" flipV="false">
            <a:off x="609600" y="508000"/>
            <a:ext cx="109728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false" anchor="ctr" anchorCtr="false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true" i="false" u="none" strike="noStrike">
                <a:solidFill>
                  <a:srgbClr val="F59E0B"/>
                </a:solidFill>
                <a:latin typeface="PingFang SC"/>
                <a:ea typeface="PingFang SC"/>
                <a:cs typeface="PingFang SC"/>
                <a:sym typeface="PingFang SC"/>
              </a:rPr>
              <a:t>AI Investment Tools</a:t>
            </a:r>
            <a:endParaRPr lang="en-US" sz="1100"/>
          </a:p>
        </p:txBody>
      </p:sp>
      <p:sp>
        <p:nvSpPr>
          <p:cNvPr id="39" name="AutoShape 4"/>
          <p:cNvSpPr/>
          <p:nvPr/>
        </p:nvSpPr>
        <p:spPr>
          <a:xfrm rot="0" flipH="false" flipV="false">
            <a:off x="609600" y="1333500"/>
            <a:ext cx="109728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false" anchor="ctr" anchorCtr="false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false" i="false" u="none" strike="noStrike">
                <a:solidFill>
                  <a:srgbClr val="FFFFFF"/>
                </a:solidFill>
                <a:latin typeface="PingFang SC"/>
                <a:ea typeface="PingFang SC"/>
                <a:cs typeface="PingFang SC"/>
                <a:sym typeface="PingFang SC"/>
              </a:rPr>
              <a:t>为 OpenJiuWen Agent Studio 量身定制</a:t>
            </a:r>
            <a:endParaRPr lang="en-US" sz="1100"/>
          </a:p>
        </p:txBody>
      </p:sp>
      <p:sp>
        <p:nvSpPr>
          <p:cNvPr id="40" name="AutoShape 5"/>
          <p:cNvSpPr/>
          <p:nvPr/>
        </p:nvSpPr>
        <p:spPr>
          <a:xfrm rot="0" flipH="false" flipV="false">
            <a:off x="609600" y="2159000"/>
            <a:ext cx="3454400" cy="3048000"/>
          </a:xfrm>
          <a:prstGeom prst="roundRect">
            <a:avLst>
              <a:gd name="adj" fmla="val 5000"/>
            </a:avLst>
          </a:prstGeom>
          <a:solidFill>
            <a:srgbClr val="FFFFFF">
              <a:alpha val="8000"/>
            </a:srgbClr>
          </a:solidFill>
          <a:ln w="25400" cap="flat" cmpd="sng">
            <a:solidFill>
              <a:srgbClr val="3B82F6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false" anchor="ctr"/>
          <a:lstStyle/>
          <a:p>
            <a:pPr algn="ctr">
              <a:defRPr/>
            </a:pPr>
            <a:endParaRPr/>
          </a:p>
        </p:txBody>
      </p:sp>
      <p:pic>
        <p:nvPicPr>
          <p:cNvPr id="41" name="Picture 6"/>
          <p:cNvPicPr>
            <a:picLocks noChangeAspect="true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false" flipV="false">
            <a:off x="863600" y="2413000"/>
            <a:ext cx="355600" cy="355600"/>
          </a:xfrm>
          <a:prstGeom prst="rect">
            <a:avLst/>
          </a:prstGeom>
        </p:spPr>
      </p:pic>
      <p:sp>
        <p:nvSpPr>
          <p:cNvPr id="42" name="AutoShape 7"/>
          <p:cNvSpPr/>
          <p:nvPr/>
        </p:nvSpPr>
        <p:spPr>
          <a:xfrm rot="0" flipH="false" flipV="false">
            <a:off x="1371600" y="24384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false" anchor="ctr" anchorCtr="false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true" i="false" u="none" strike="noStrike">
                <a:solidFill>
                  <a:srgbClr val="FFFFFF"/>
                </a:solidFill>
                <a:latin typeface="PingFang SC"/>
                <a:ea typeface="PingFang SC"/>
                <a:cs typeface="PingFang SC"/>
                <a:sym typeface="PingFang SC"/>
              </a:rPr>
              <a:t>数据获取类工具集</a:t>
            </a:r>
            <a:endParaRPr lang="en-US" sz="1100"/>
          </a:p>
        </p:txBody>
      </p:sp>
      <p:cxnSp>
        <p:nvCxnSpPr>
          <p:cNvPr id="43" name="Connector 8"/>
          <p:cNvCxnSpPr/>
          <p:nvPr/>
        </p:nvCxnSpPr>
        <p:spPr>
          <a:xfrm rot="-15485" flipH="false" flipV="false">
            <a:off x="863614" y="2940050"/>
            <a:ext cx="2819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44" name="Picture 9"/>
          <p:cNvPicPr>
            <a:picLocks noChangeAspect="true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false" flipV="false">
            <a:off x="914400" y="3200400"/>
            <a:ext cx="203200" cy="203200"/>
          </a:xfrm>
          <a:prstGeom prst="rect">
            <a:avLst/>
          </a:prstGeom>
        </p:spPr>
      </p:pic>
      <p:sp>
        <p:nvSpPr>
          <p:cNvPr id="45" name="AutoShape 10"/>
          <p:cNvSpPr/>
          <p:nvPr/>
        </p:nvSpPr>
        <p:spPr>
          <a:xfrm rot="0" flipH="false" flipV="false">
            <a:off x="1219200" y="3200400"/>
            <a:ext cx="254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false" anchor="ctr" anchorCtr="false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false" i="false" u="none" strike="noStrike">
                <a:solidFill>
                  <a:srgbClr val="E5E7EB"/>
                </a:solidFill>
                <a:latin typeface="PingFang SC"/>
                <a:ea typeface="PingFang SC"/>
                <a:cs typeface="PingFang SC"/>
                <a:sym typeface="PingFang SC"/>
              </a:rPr>
              <a:t>股价数据</a:t>
            </a:r>
            <a:endParaRPr lang="en-US" sz="1100"/>
          </a:p>
        </p:txBody>
      </p:sp>
      <p:pic>
        <p:nvPicPr>
          <p:cNvPr id="46" name="Picture 11"/>
          <p:cNvPicPr>
            <a:picLocks noChangeAspect="true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false" flipV="false">
            <a:off x="914400" y="3657600"/>
            <a:ext cx="203200" cy="203200"/>
          </a:xfrm>
          <a:prstGeom prst="rect">
            <a:avLst/>
          </a:prstGeom>
        </p:spPr>
      </p:pic>
      <p:sp>
        <p:nvSpPr>
          <p:cNvPr id="47" name="AutoShape 12"/>
          <p:cNvSpPr/>
          <p:nvPr/>
        </p:nvSpPr>
        <p:spPr>
          <a:xfrm rot="0" flipH="false" flipV="false">
            <a:off x="1219200" y="3657600"/>
            <a:ext cx="254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false" anchor="ctr" anchorCtr="false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false" i="false" u="none" strike="noStrike">
                <a:solidFill>
                  <a:srgbClr val="E5E7EB"/>
                </a:solidFill>
                <a:latin typeface="PingFang SC"/>
                <a:ea typeface="PingFang SC"/>
                <a:cs typeface="PingFang SC"/>
                <a:sym typeface="PingFang SC"/>
              </a:rPr>
              <a:t>财务指标</a:t>
            </a:r>
            <a:endParaRPr lang="en-US" sz="1100"/>
          </a:p>
        </p:txBody>
      </p:sp>
      <p:pic>
        <p:nvPicPr>
          <p:cNvPr id="48" name="Picture 13"/>
          <p:cNvPicPr>
            <a:picLocks noChangeAspect="true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false" flipV="false">
            <a:off x="914400" y="4114800"/>
            <a:ext cx="203200" cy="203200"/>
          </a:xfrm>
          <a:prstGeom prst="rect">
            <a:avLst/>
          </a:prstGeom>
        </p:spPr>
      </p:pic>
      <p:sp>
        <p:nvSpPr>
          <p:cNvPr id="49" name="AutoShape 14"/>
          <p:cNvSpPr/>
          <p:nvPr/>
        </p:nvSpPr>
        <p:spPr>
          <a:xfrm rot="0" flipH="false" flipV="false">
            <a:off x="1219200" y="4114800"/>
            <a:ext cx="254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false" anchor="ctr" anchorCtr="false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false" i="false" u="none" strike="noStrike">
                <a:solidFill>
                  <a:srgbClr val="E5E7EB"/>
                </a:solidFill>
                <a:latin typeface="PingFang SC"/>
                <a:ea typeface="PingFang SC"/>
                <a:cs typeface="PingFang SC"/>
                <a:sym typeface="PingFang SC"/>
              </a:rPr>
              <a:t>新闻情绪</a:t>
            </a:r>
            <a:endParaRPr lang="en-US" sz="1100"/>
          </a:p>
        </p:txBody>
      </p:sp>
      <p:pic>
        <p:nvPicPr>
          <p:cNvPr id="50" name="Picture 15"/>
          <p:cNvPicPr>
            <a:picLocks noChangeAspect="true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false" flipV="false">
            <a:off x="914400" y="4572000"/>
            <a:ext cx="203200" cy="203200"/>
          </a:xfrm>
          <a:prstGeom prst="rect">
            <a:avLst/>
          </a:prstGeom>
        </p:spPr>
      </p:pic>
      <p:sp>
        <p:nvSpPr>
          <p:cNvPr id="51" name="AutoShape 16"/>
          <p:cNvSpPr/>
          <p:nvPr/>
        </p:nvSpPr>
        <p:spPr>
          <a:xfrm rot="0" flipH="false" flipV="false">
            <a:off x="1219200" y="4572000"/>
            <a:ext cx="254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false" anchor="ctr" anchorCtr="false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false" i="false" u="none" strike="noStrike">
                <a:solidFill>
                  <a:srgbClr val="E5E7EB"/>
                </a:solidFill>
                <a:latin typeface="PingFang SC"/>
                <a:ea typeface="PingFang SC"/>
                <a:cs typeface="PingFang SC"/>
                <a:sym typeface="PingFang SC"/>
              </a:rPr>
              <a:t>内部交易</a:t>
            </a:r>
            <a:endParaRPr lang="en-US" sz="1100"/>
          </a:p>
        </p:txBody>
      </p:sp>
      <p:sp>
        <p:nvSpPr>
          <p:cNvPr id="52" name="AutoShape 17"/>
          <p:cNvSpPr/>
          <p:nvPr/>
        </p:nvSpPr>
        <p:spPr>
          <a:xfrm rot="0" flipH="false" flipV="false">
            <a:off x="4368800" y="2159000"/>
            <a:ext cx="3454400" cy="3048000"/>
          </a:xfrm>
          <a:prstGeom prst="roundRect">
            <a:avLst>
              <a:gd name="adj" fmla="val 5000"/>
            </a:avLst>
          </a:prstGeom>
          <a:solidFill>
            <a:srgbClr val="FFFFFF">
              <a:alpha val="8000"/>
            </a:srgbClr>
          </a:solidFill>
          <a:ln w="25400" cap="flat" cmpd="sng">
            <a:solidFill>
              <a:srgbClr val="8B5CF6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false" anchor="ctr"/>
          <a:lstStyle/>
          <a:p>
            <a:pPr algn="ctr">
              <a:defRPr/>
            </a:pPr>
            <a:endParaRPr/>
          </a:p>
        </p:txBody>
      </p:sp>
      <p:pic>
        <p:nvPicPr>
          <p:cNvPr id="53" name="Picture 18"/>
          <p:cNvPicPr>
            <a:picLocks noChangeAspect="true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 rot="0" flipH="false" flipV="false">
            <a:off x="4622800" y="2413000"/>
            <a:ext cx="355600" cy="355600"/>
          </a:xfrm>
          <a:prstGeom prst="rect">
            <a:avLst/>
          </a:prstGeom>
        </p:spPr>
      </p:pic>
      <p:sp>
        <p:nvSpPr>
          <p:cNvPr id="54" name="AutoShape 19"/>
          <p:cNvSpPr/>
          <p:nvPr/>
        </p:nvSpPr>
        <p:spPr>
          <a:xfrm rot="0" flipH="false" flipV="false">
            <a:off x="5130800" y="24384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false" anchor="ctr" anchorCtr="false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true" i="false" u="none" strike="noStrike">
                <a:solidFill>
                  <a:srgbClr val="FFFFFF"/>
                </a:solidFill>
                <a:latin typeface="PingFang SC"/>
                <a:ea typeface="PingFang SC"/>
                <a:cs typeface="PingFang SC"/>
                <a:sym typeface="PingFang SC"/>
              </a:rPr>
              <a:t>数据分析类工具集</a:t>
            </a:r>
            <a:endParaRPr lang="en-US" sz="1100"/>
          </a:p>
        </p:txBody>
      </p:sp>
      <p:cxnSp>
        <p:nvCxnSpPr>
          <p:cNvPr id="55" name="Connector 20"/>
          <p:cNvCxnSpPr/>
          <p:nvPr/>
        </p:nvCxnSpPr>
        <p:spPr>
          <a:xfrm rot="-15485" flipH="false" flipV="false">
            <a:off x="4622814" y="2940050"/>
            <a:ext cx="2819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6" name="Picture 21"/>
          <p:cNvPicPr>
            <a:picLocks noChangeAspect="true"/>
          </p:cNvPicPr>
          <p:nvPr/>
        </p:nvPicPr>
        <p:blipFill>
          <a:blip>
            <a:extLst>
              <a:ext uri="{96DAC541-7B7A-43D3-8B79-37D633B846F1}">
                <asvg:svgBlip r:embed="rId6"/>
              </a:ext>
            </a:extLst>
          </a:blip>
          <a:stretch>
            <a:fillRect/>
          </a:stretch>
        </p:blipFill>
        <p:spPr>
          <a:xfrm rot="0" flipH="false" flipV="false">
            <a:off x="4673600" y="3200400"/>
            <a:ext cx="203200" cy="203200"/>
          </a:xfrm>
          <a:prstGeom prst="rect">
            <a:avLst/>
          </a:prstGeom>
        </p:spPr>
      </p:pic>
      <p:sp>
        <p:nvSpPr>
          <p:cNvPr id="57" name="AutoShape 22"/>
          <p:cNvSpPr/>
          <p:nvPr/>
        </p:nvSpPr>
        <p:spPr>
          <a:xfrm rot="0" flipH="false" flipV="false">
            <a:off x="4978400" y="3200400"/>
            <a:ext cx="254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false" anchor="ctr" anchorCtr="false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false" i="false" u="none" strike="noStrike">
                <a:solidFill>
                  <a:srgbClr val="E5E7EB"/>
                </a:solidFill>
                <a:latin typeface="PingFang SC"/>
                <a:ea typeface="PingFang SC"/>
                <a:cs typeface="PingFang SC"/>
                <a:sym typeface="PingFang SC"/>
              </a:rPr>
              <a:t>17位AI分析师</a:t>
            </a:r>
            <a:endParaRPr lang="en-US" sz="1100"/>
          </a:p>
        </p:txBody>
      </p:sp>
      <p:pic>
        <p:nvPicPr>
          <p:cNvPr id="58" name="Picture 23"/>
          <p:cNvPicPr>
            <a:picLocks noChangeAspect="true"/>
          </p:cNvPicPr>
          <p:nvPr/>
        </p:nvPicPr>
        <p:blipFill>
          <a:blip>
            <a:extLst>
              <a:ext uri="{96DAC541-7B7A-43D3-8B79-37D633B846F1}">
                <asvg:svgBlip r:embed="rId6"/>
              </a:ext>
            </a:extLst>
          </a:blip>
          <a:stretch>
            <a:fillRect/>
          </a:stretch>
        </p:blipFill>
        <p:spPr>
          <a:xfrm rot="0" flipH="false" flipV="false">
            <a:off x="4673600" y="3657600"/>
            <a:ext cx="203200" cy="203200"/>
          </a:xfrm>
          <a:prstGeom prst="rect">
            <a:avLst/>
          </a:prstGeom>
        </p:spPr>
      </p:pic>
      <p:sp>
        <p:nvSpPr>
          <p:cNvPr id="59" name="AutoShape 24"/>
          <p:cNvSpPr/>
          <p:nvPr/>
        </p:nvSpPr>
        <p:spPr>
          <a:xfrm rot="0" flipH="false" flipV="false">
            <a:off x="4978400" y="3657600"/>
            <a:ext cx="254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false" anchor="ctr" anchorCtr="false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false" i="false" u="none" strike="noStrike">
                <a:solidFill>
                  <a:srgbClr val="E5E7EB"/>
                </a:solidFill>
                <a:latin typeface="PingFang SC"/>
                <a:ea typeface="PingFang SC"/>
                <a:cs typeface="PingFang SC"/>
                <a:sym typeface="PingFang SC"/>
              </a:rPr>
              <a:t>价值投资</a:t>
            </a:r>
            <a:endParaRPr lang="en-US" sz="1100"/>
          </a:p>
        </p:txBody>
      </p:sp>
      <p:pic>
        <p:nvPicPr>
          <p:cNvPr id="60" name="Picture 25"/>
          <p:cNvPicPr>
            <a:picLocks noChangeAspect="true"/>
          </p:cNvPicPr>
          <p:nvPr/>
        </p:nvPicPr>
        <p:blipFill>
          <a:blip>
            <a:extLst>
              <a:ext uri="{96DAC541-7B7A-43D3-8B79-37D633B846F1}">
                <asvg:svgBlip r:embed="rId6"/>
              </a:ext>
            </a:extLst>
          </a:blip>
          <a:stretch>
            <a:fillRect/>
          </a:stretch>
        </p:blipFill>
        <p:spPr>
          <a:xfrm rot="0" flipH="false" flipV="false">
            <a:off x="4673600" y="4114800"/>
            <a:ext cx="203200" cy="203200"/>
          </a:xfrm>
          <a:prstGeom prst="rect">
            <a:avLst/>
          </a:prstGeom>
        </p:spPr>
      </p:pic>
      <p:sp>
        <p:nvSpPr>
          <p:cNvPr id="61" name="AutoShape 26"/>
          <p:cNvSpPr/>
          <p:nvPr/>
        </p:nvSpPr>
        <p:spPr>
          <a:xfrm rot="0" flipH="false" flipV="false">
            <a:off x="4978400" y="4114800"/>
            <a:ext cx="254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false" anchor="ctr" anchorCtr="false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false" i="false" u="none" strike="noStrike">
                <a:solidFill>
                  <a:srgbClr val="E5E7EB"/>
                </a:solidFill>
                <a:latin typeface="PingFang SC"/>
                <a:ea typeface="PingFang SC"/>
                <a:cs typeface="PingFang SC"/>
                <a:sym typeface="PingFang SC"/>
              </a:rPr>
              <a:t>技术分析</a:t>
            </a:r>
            <a:endParaRPr lang="en-US" sz="1100"/>
          </a:p>
        </p:txBody>
      </p:sp>
      <p:pic>
        <p:nvPicPr>
          <p:cNvPr id="62" name="Picture 27"/>
          <p:cNvPicPr>
            <a:picLocks noChangeAspect="true"/>
          </p:cNvPicPr>
          <p:nvPr/>
        </p:nvPicPr>
        <p:blipFill>
          <a:blip>
            <a:extLst>
              <a:ext uri="{96DAC541-7B7A-43D3-8B79-37D633B846F1}">
                <asvg:svgBlip r:embed="rId6"/>
              </a:ext>
            </a:extLst>
          </a:blip>
          <a:stretch>
            <a:fillRect/>
          </a:stretch>
        </p:blipFill>
        <p:spPr>
          <a:xfrm rot="0" flipH="false" flipV="false">
            <a:off x="4673600" y="4572000"/>
            <a:ext cx="203200" cy="203200"/>
          </a:xfrm>
          <a:prstGeom prst="rect">
            <a:avLst/>
          </a:prstGeom>
        </p:spPr>
      </p:pic>
      <p:sp>
        <p:nvSpPr>
          <p:cNvPr id="63" name="AutoShape 28"/>
          <p:cNvSpPr/>
          <p:nvPr/>
        </p:nvSpPr>
        <p:spPr>
          <a:xfrm rot="0" flipH="false" flipV="false">
            <a:off x="4978400" y="4572000"/>
            <a:ext cx="254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false" anchor="ctr" anchorCtr="false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false" i="false" u="none" strike="noStrike">
                <a:solidFill>
                  <a:srgbClr val="E5E7EB"/>
                </a:solidFill>
                <a:latin typeface="PingFang SC"/>
                <a:ea typeface="PingFang SC"/>
                <a:cs typeface="PingFang SC"/>
                <a:sym typeface="PingFang SC"/>
              </a:rPr>
              <a:t>情绪分析</a:t>
            </a:r>
            <a:endParaRPr lang="en-US" sz="1100"/>
          </a:p>
        </p:txBody>
      </p:sp>
      <p:sp>
        <p:nvSpPr>
          <p:cNvPr id="64" name="AutoShape 29"/>
          <p:cNvSpPr/>
          <p:nvPr/>
        </p:nvSpPr>
        <p:spPr>
          <a:xfrm rot="0" flipH="false" flipV="false">
            <a:off x="8128000" y="2159000"/>
            <a:ext cx="3454400" cy="3048000"/>
          </a:xfrm>
          <a:prstGeom prst="roundRect">
            <a:avLst>
              <a:gd name="adj" fmla="val 5000"/>
            </a:avLst>
          </a:prstGeom>
          <a:solidFill>
            <a:srgbClr val="FFFFFF">
              <a:alpha val="8000"/>
            </a:srgbClr>
          </a:solidFill>
          <a:ln w="25400" cap="flat" cmpd="sng">
            <a:solidFill>
              <a:srgbClr val="F97316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false" anchor="ctr"/>
          <a:lstStyle/>
          <a:p>
            <a:pPr algn="ctr">
              <a:defRPr/>
            </a:pPr>
            <a:endParaRPr/>
          </a:p>
        </p:txBody>
      </p:sp>
      <p:pic>
        <p:nvPicPr>
          <p:cNvPr id="65" name="Picture 30"/>
          <p:cNvPicPr>
            <a:picLocks noChangeAspect="true"/>
          </p:cNvPicPr>
          <p:nvPr/>
        </p:nvPicPr>
        <p:blipFill>
          <a:blip>
            <a:extLst>
              <a:ext uri="{96DAC541-7B7A-43D3-8B79-37D633B846F1}">
                <asvg:svgBlip r:embed="rId7"/>
              </a:ext>
            </a:extLst>
          </a:blip>
          <a:stretch>
            <a:fillRect/>
          </a:stretch>
        </p:blipFill>
        <p:spPr>
          <a:xfrm rot="0" flipH="false" flipV="false">
            <a:off x="8382000" y="2413000"/>
            <a:ext cx="355600" cy="355600"/>
          </a:xfrm>
          <a:prstGeom prst="rect">
            <a:avLst/>
          </a:prstGeom>
        </p:spPr>
      </p:pic>
      <p:sp>
        <p:nvSpPr>
          <p:cNvPr id="66" name="AutoShape 31"/>
          <p:cNvSpPr/>
          <p:nvPr/>
        </p:nvSpPr>
        <p:spPr>
          <a:xfrm rot="0" flipH="false" flipV="false">
            <a:off x="8890000" y="24384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false" anchor="ctr" anchorCtr="false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true" i="false" u="none" strike="noStrike">
                <a:solidFill>
                  <a:srgbClr val="FFFFFF"/>
                </a:solidFill>
                <a:latin typeface="PingFang SC"/>
                <a:ea typeface="PingFang SC"/>
                <a:cs typeface="PingFang SC"/>
                <a:sym typeface="PingFang SC"/>
              </a:rPr>
              <a:t>投资决策类工具集</a:t>
            </a:r>
            <a:endParaRPr lang="en-US" sz="1100"/>
          </a:p>
        </p:txBody>
      </p:sp>
      <p:cxnSp>
        <p:nvCxnSpPr>
          <p:cNvPr id="67" name="Connector 32"/>
          <p:cNvCxnSpPr/>
          <p:nvPr/>
        </p:nvCxnSpPr>
        <p:spPr>
          <a:xfrm rot="-15485" flipH="false" flipV="false">
            <a:off x="8382014" y="2940050"/>
            <a:ext cx="2819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8" name="Picture 33"/>
          <p:cNvPicPr>
            <a:picLocks noChangeAspect="true"/>
          </p:cNvPicPr>
          <p:nvPr/>
        </p:nvPicPr>
        <p:blipFill>
          <a:blip>
            <a:extLst>
              <a:ext uri="{96DAC541-7B7A-43D3-8B79-37D633B846F1}">
                <asvg:svgBlip r:embed="rId8"/>
              </a:ext>
            </a:extLst>
          </a:blip>
          <a:stretch>
            <a:fillRect/>
          </a:stretch>
        </p:blipFill>
        <p:spPr>
          <a:xfrm rot="0" flipH="false" flipV="false">
            <a:off x="8432800" y="3200400"/>
            <a:ext cx="203200" cy="203200"/>
          </a:xfrm>
          <a:prstGeom prst="rect">
            <a:avLst/>
          </a:prstGeom>
        </p:spPr>
      </p:pic>
      <p:sp>
        <p:nvSpPr>
          <p:cNvPr id="69" name="AutoShape 34"/>
          <p:cNvSpPr/>
          <p:nvPr/>
        </p:nvSpPr>
        <p:spPr>
          <a:xfrm rot="0" flipH="false" flipV="false">
            <a:off x="8737600" y="3200400"/>
            <a:ext cx="254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false" anchor="ctr" anchorCtr="false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false" i="false" u="none" strike="noStrike">
                <a:solidFill>
                  <a:srgbClr val="E5E7EB"/>
                </a:solidFill>
                <a:latin typeface="PingFang SC"/>
                <a:ea typeface="PingFang SC"/>
                <a:cs typeface="PingFang SC"/>
                <a:sym typeface="PingFang SC"/>
              </a:rPr>
              <a:t>风险评估</a:t>
            </a:r>
            <a:endParaRPr lang="en-US" sz="1100"/>
          </a:p>
        </p:txBody>
      </p:sp>
      <p:pic>
        <p:nvPicPr>
          <p:cNvPr id="70" name="Picture 35"/>
          <p:cNvPicPr>
            <a:picLocks noChangeAspect="true"/>
          </p:cNvPicPr>
          <p:nvPr/>
        </p:nvPicPr>
        <p:blipFill>
          <a:blip>
            <a:extLst>
              <a:ext uri="{96DAC541-7B7A-43D3-8B79-37D633B846F1}">
                <asvg:svgBlip r:embed="rId8"/>
              </a:ext>
            </a:extLst>
          </a:blip>
          <a:stretch>
            <a:fillRect/>
          </a:stretch>
        </p:blipFill>
        <p:spPr>
          <a:xfrm rot="0" flipH="false" flipV="false">
            <a:off x="8432800" y="3657600"/>
            <a:ext cx="203200" cy="203200"/>
          </a:xfrm>
          <a:prstGeom prst="rect">
            <a:avLst/>
          </a:prstGeom>
        </p:spPr>
      </p:pic>
      <p:sp>
        <p:nvSpPr>
          <p:cNvPr id="71" name="AutoShape 36"/>
          <p:cNvSpPr/>
          <p:nvPr/>
        </p:nvSpPr>
        <p:spPr>
          <a:xfrm rot="0" flipH="false" flipV="false">
            <a:off x="8737600" y="3657600"/>
            <a:ext cx="254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false" anchor="ctr" anchorCtr="false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false" i="false" u="none" strike="noStrike">
                <a:solidFill>
                  <a:srgbClr val="E5E7EB"/>
                </a:solidFill>
                <a:latin typeface="PingFang SC"/>
                <a:ea typeface="PingFang SC"/>
                <a:cs typeface="PingFang SC"/>
                <a:sym typeface="PingFang SC"/>
              </a:rPr>
              <a:t>投资组合管理</a:t>
            </a:r>
            <a:endParaRPr lang="en-US" sz="1100"/>
          </a:p>
        </p:txBody>
      </p:sp>
      <p:pic>
        <p:nvPicPr>
          <p:cNvPr id="72" name="Picture 37"/>
          <p:cNvPicPr>
            <a:picLocks noChangeAspect="true"/>
          </p:cNvPicPr>
          <p:nvPr/>
        </p:nvPicPr>
        <p:blipFill>
          <a:blip>
            <a:extLst>
              <a:ext uri="{96DAC541-7B7A-43D3-8B79-37D633B846F1}">
                <asvg:svgBlip r:embed="rId8"/>
              </a:ext>
            </a:extLst>
          </a:blip>
          <a:stretch>
            <a:fillRect/>
          </a:stretch>
        </p:blipFill>
        <p:spPr>
          <a:xfrm rot="0" flipH="false" flipV="false">
            <a:off x="8432800" y="4114800"/>
            <a:ext cx="203200" cy="203200"/>
          </a:xfrm>
          <a:prstGeom prst="rect">
            <a:avLst/>
          </a:prstGeom>
        </p:spPr>
      </p:pic>
      <p:sp>
        <p:nvSpPr>
          <p:cNvPr id="73" name="AutoShape 38"/>
          <p:cNvSpPr/>
          <p:nvPr/>
        </p:nvSpPr>
        <p:spPr>
          <a:xfrm rot="0" flipH="false" flipV="false">
            <a:off x="8737600" y="4114800"/>
            <a:ext cx="254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false" anchor="ctr" anchorCtr="false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false" i="false" u="none" strike="noStrike">
                <a:solidFill>
                  <a:srgbClr val="E5E7EB"/>
                </a:solidFill>
                <a:latin typeface="PingFang SC"/>
                <a:ea typeface="PingFang SC"/>
                <a:cs typeface="PingFang SC"/>
                <a:sym typeface="PingFang SC"/>
              </a:rPr>
              <a:t>交易决策</a:t>
            </a:r>
            <a:endParaRPr lang="en-US" sz="1100"/>
          </a:p>
        </p:txBody>
      </p:sp>
      <p:sp>
        <p:nvSpPr>
          <p:cNvPr id="74" name="AutoShape 39"/>
          <p:cNvSpPr/>
          <p:nvPr/>
        </p:nvSpPr>
        <p:spPr>
          <a:xfrm rot="0" flipH="false" flipV="false">
            <a:off x="609600" y="5461000"/>
            <a:ext cx="109728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false" anchor="ctr" anchorCtr="false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false" i="false" u="none" strike="noStrike">
                <a:solidFill>
                  <a:srgbClr val="D1D5DB"/>
                </a:solidFill>
                <a:latin typeface="PingFang SC"/>
                <a:ea typeface="PingFang SC"/>
                <a:cs typeface="PingFang SC"/>
                <a:sym typeface="PingFang SC"/>
              </a:rPr>
              <a:t>无缝集成，为智能体提供强大的数据支持和分析能力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bg>
      <p:bgPr>
        <a:solidFill>
          <a:srgbClr val="0F172A">
            <a:alpha val="100000"/>
          </a:srgbClr>
        </a:solidFill>
      </p:bgPr>
    </p:bg>
    <p:spTree>
      <p:nvGrpSpPr>
        <p:cNvPr id="7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Picture 2"/>
          <p:cNvPicPr>
            <a:picLocks noChangeAspect="true"/>
          </p:cNvPicPr>
          <p:nvPr/>
        </p:nvPicPr>
        <p:blipFill>
          <a:blip r:embed="rId2"/>
          <a:srcRect l="0" t="21875" r="0" b="21875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77" name="AutoShape 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false" anchor="ctr"/>
          <a:lstStyle/>
          <a:p>
            <a:pPr algn="ctr">
              <a:defRPr/>
            </a:pPr>
            <a:endParaRPr/>
          </a:p>
        </p:txBody>
      </p:sp>
      <p:sp>
        <p:nvSpPr>
          <p:cNvPr id="78" name="AutoShape 4"/>
          <p:cNvSpPr/>
          <p:nvPr/>
        </p:nvSpPr>
        <p:spPr>
          <a:xfrm rot="0" flipH="false" flipV="false">
            <a:off x="2286000" y="508000"/>
            <a:ext cx="762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false" anchor="ctr" anchorCtr="false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true" i="false" u="none" strike="noStrike">
                <a:solidFill>
                  <a:srgbClr val="F59E0B"/>
                </a:solidFill>
                <a:latin typeface="PingFang SC"/>
                <a:ea typeface="PingFang SC"/>
                <a:cs typeface="PingFang SC"/>
                <a:sym typeface="PingFang SC"/>
              </a:rPr>
              <a:t>数据获取类工具</a:t>
            </a:r>
            <a:endParaRPr lang="en-US" sz="1100"/>
          </a:p>
        </p:txBody>
      </p:sp>
      <p:sp>
        <p:nvSpPr>
          <p:cNvPr id="79" name="AutoShape 5"/>
          <p:cNvSpPr/>
          <p:nvPr/>
        </p:nvSpPr>
        <p:spPr>
          <a:xfrm rot="0" flipH="false" flipV="false">
            <a:off x="2286000" y="1143000"/>
            <a:ext cx="762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false" anchor="ctr" anchorCtr="false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false" i="false" u="none" strike="noStrike">
                <a:solidFill>
                  <a:srgbClr val="FFFFFF"/>
                </a:solidFill>
                <a:latin typeface="PingFang SC"/>
                <a:ea typeface="PingFang SC"/>
                <a:cs typeface="PingFang SC"/>
                <a:sym typeface="PingFang SC"/>
              </a:rPr>
              <a:t>Data Collection</a:t>
            </a:r>
            <a:endParaRPr lang="en-US" sz="1100"/>
          </a:p>
        </p:txBody>
      </p:sp>
      <p:cxnSp>
        <p:nvCxnSpPr>
          <p:cNvPr id="80" name="Connector 6"/>
          <p:cNvCxnSpPr/>
          <p:nvPr/>
        </p:nvCxnSpPr>
        <p:spPr>
          <a:xfrm rot="-3978" flipH="false" flipV="false">
            <a:off x="609604" y="16446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59E0B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1" name="AutoShape 7"/>
          <p:cNvSpPr/>
          <p:nvPr/>
        </p:nvSpPr>
        <p:spPr>
          <a:xfrm rot="0" flipH="false" flipV="false">
            <a:off x="609600" y="1955800"/>
            <a:ext cx="3454400" cy="2032000"/>
          </a:xfrm>
          <a:prstGeom prst="roundRect">
            <a:avLst>
              <a:gd name="adj" fmla="val 5000"/>
            </a:avLst>
          </a:prstGeom>
          <a:solidFill>
            <a:srgbClr val="3B82F6">
              <a:alpha val="15000"/>
            </a:srgbClr>
          </a:solidFill>
          <a:ln w="12700" cap="flat" cmpd="sng">
            <a:solidFill>
              <a:srgbClr val="3B82F6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false" anchor="ctr"/>
          <a:lstStyle/>
          <a:p>
            <a:pPr algn="ctr">
              <a:defRPr/>
            </a:pPr>
            <a:endParaRPr/>
          </a:p>
        </p:txBody>
      </p:sp>
      <p:pic>
        <p:nvPicPr>
          <p:cNvPr id="82" name="Picture 8"/>
          <p:cNvPicPr>
            <a:picLocks noChangeAspect="true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false" flipV="false">
            <a:off x="812800" y="2159000"/>
            <a:ext cx="304800" cy="304800"/>
          </a:xfrm>
          <a:prstGeom prst="rect">
            <a:avLst/>
          </a:prstGeom>
        </p:spPr>
      </p:pic>
      <p:sp>
        <p:nvSpPr>
          <p:cNvPr id="83" name="AutoShape 9"/>
          <p:cNvSpPr/>
          <p:nvPr/>
        </p:nvSpPr>
        <p:spPr>
          <a:xfrm rot="0" flipH="false" flipV="false">
            <a:off x="1270000" y="21717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false" anchor="ctr" anchorCtr="false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true" i="false" u="none" strike="noStrike">
                <a:solidFill>
                  <a:srgbClr val="FFFFFF"/>
                </a:solidFill>
                <a:latin typeface="PingFang SC"/>
                <a:ea typeface="PingFang SC"/>
                <a:cs typeface="PingFang SC"/>
                <a:sym typeface="PingFang SC"/>
              </a:rPr>
              <a:t>股价数据 /prices</a:t>
            </a:r>
            <a:endParaRPr lang="en-US" sz="1100"/>
          </a:p>
        </p:txBody>
      </p:sp>
      <p:pic>
        <p:nvPicPr>
          <p:cNvPr id="84" name="Picture 10"/>
          <p:cNvPicPr>
            <a:picLocks noChangeAspect="true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false" flipV="false">
            <a:off x="863600" y="2667000"/>
            <a:ext cx="177800" cy="177800"/>
          </a:xfrm>
          <a:prstGeom prst="rect">
            <a:avLst/>
          </a:prstGeom>
        </p:spPr>
      </p:pic>
      <p:sp>
        <p:nvSpPr>
          <p:cNvPr id="85" name="AutoShape 11"/>
          <p:cNvSpPr/>
          <p:nvPr/>
        </p:nvSpPr>
        <p:spPr>
          <a:xfrm rot="0" flipH="false" flipV="false">
            <a:off x="1168400" y="2641600"/>
            <a:ext cx="228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false" anchor="ctr" anchorCtr="false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false" i="false" u="none" strike="noStrike">
                <a:solidFill>
                  <a:srgbClr val="E5E7EB"/>
                </a:solidFill>
                <a:latin typeface="PingFang SC"/>
                <a:ea typeface="PingFang SC"/>
                <a:cs typeface="PingFang SC"/>
                <a:sym typeface="PingFang SC"/>
              </a:rPr>
              <a:t>历史价格</a:t>
            </a:r>
            <a:endParaRPr lang="en-US" sz="1100"/>
          </a:p>
        </p:txBody>
      </p:sp>
      <p:pic>
        <p:nvPicPr>
          <p:cNvPr id="86" name="Picture 12"/>
          <p:cNvPicPr>
            <a:picLocks noChangeAspect="true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false" flipV="false">
            <a:off x="863600" y="3048000"/>
            <a:ext cx="177800" cy="177800"/>
          </a:xfrm>
          <a:prstGeom prst="rect">
            <a:avLst/>
          </a:prstGeom>
        </p:spPr>
      </p:pic>
      <p:sp>
        <p:nvSpPr>
          <p:cNvPr id="87" name="AutoShape 13"/>
          <p:cNvSpPr/>
          <p:nvPr/>
        </p:nvSpPr>
        <p:spPr>
          <a:xfrm rot="0" flipH="false" flipV="false">
            <a:off x="1168400" y="3022600"/>
            <a:ext cx="228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false" anchor="ctr" anchorCtr="false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false" i="false" u="none" strike="noStrike">
                <a:solidFill>
                  <a:srgbClr val="E5E7EB"/>
                </a:solidFill>
                <a:latin typeface="PingFang SC"/>
                <a:ea typeface="PingFang SC"/>
                <a:cs typeface="PingFang SC"/>
                <a:sym typeface="PingFang SC"/>
              </a:rPr>
              <a:t>实时报价 &amp; K线数据</a:t>
            </a:r>
            <a:endParaRPr lang="en-US" sz="1100"/>
          </a:p>
        </p:txBody>
      </p:sp>
      <p:pic>
        <p:nvPicPr>
          <p:cNvPr id="88" name="Picture 14"/>
          <p:cNvPicPr>
            <a:picLocks noChangeAspect="true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false" flipV="false">
            <a:off x="863600" y="3429000"/>
            <a:ext cx="177800" cy="177800"/>
          </a:xfrm>
          <a:prstGeom prst="rect">
            <a:avLst/>
          </a:prstGeom>
        </p:spPr>
      </p:pic>
      <p:sp>
        <p:nvSpPr>
          <p:cNvPr id="89" name="AutoShape 15"/>
          <p:cNvSpPr/>
          <p:nvPr/>
        </p:nvSpPr>
        <p:spPr>
          <a:xfrm rot="0" flipH="false" flipV="false">
            <a:off x="1168400" y="3403600"/>
            <a:ext cx="228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false" anchor="ctr" anchorCtr="false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false" i="false" u="none" strike="noStrike">
                <a:solidFill>
                  <a:srgbClr val="E5E7EB"/>
                </a:solidFill>
                <a:latin typeface="PingFang SC"/>
                <a:ea typeface="PingFang SC"/>
                <a:cs typeface="PingFang SC"/>
                <a:sym typeface="PingFang SC"/>
              </a:rPr>
              <a:t>成交量</a:t>
            </a:r>
            <a:endParaRPr lang="en-US" sz="1100"/>
          </a:p>
        </p:txBody>
      </p:sp>
      <p:sp>
        <p:nvSpPr>
          <p:cNvPr id="90" name="AutoShape 16"/>
          <p:cNvSpPr/>
          <p:nvPr/>
        </p:nvSpPr>
        <p:spPr>
          <a:xfrm rot="0" flipH="false" flipV="false">
            <a:off x="4368800" y="1955800"/>
            <a:ext cx="3454400" cy="2032000"/>
          </a:xfrm>
          <a:prstGeom prst="roundRect">
            <a:avLst>
              <a:gd name="adj" fmla="val 5000"/>
            </a:avLst>
          </a:prstGeom>
          <a:solidFill>
            <a:srgbClr val="3B82F6">
              <a:alpha val="15000"/>
            </a:srgbClr>
          </a:solidFill>
          <a:ln w="12700" cap="flat" cmpd="sng">
            <a:solidFill>
              <a:srgbClr val="3B82F6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false" anchor="ctr"/>
          <a:lstStyle/>
          <a:p>
            <a:pPr algn="ctr">
              <a:defRPr/>
            </a:pPr>
            <a:endParaRPr/>
          </a:p>
        </p:txBody>
      </p:sp>
      <p:pic>
        <p:nvPicPr>
          <p:cNvPr id="91" name="Picture 17"/>
          <p:cNvPicPr>
            <a:picLocks noChangeAspect="true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 rot="0" flipH="false" flipV="false">
            <a:off x="4572000" y="2159000"/>
            <a:ext cx="304800" cy="304800"/>
          </a:xfrm>
          <a:prstGeom prst="rect">
            <a:avLst/>
          </a:prstGeom>
        </p:spPr>
      </p:pic>
      <p:sp>
        <p:nvSpPr>
          <p:cNvPr id="92" name="AutoShape 18"/>
          <p:cNvSpPr/>
          <p:nvPr/>
        </p:nvSpPr>
        <p:spPr>
          <a:xfrm rot="0" flipH="false" flipV="false">
            <a:off x="5029200" y="21717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false" anchor="ctr" anchorCtr="false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true" i="false" u="none" strike="noStrike">
                <a:solidFill>
                  <a:srgbClr val="FFFFFF"/>
                </a:solidFill>
                <a:latin typeface="PingFang SC"/>
                <a:ea typeface="PingFang SC"/>
                <a:cs typeface="PingFang SC"/>
                <a:sym typeface="PingFang SC"/>
              </a:rPr>
              <a:t>财务指标 /metrics</a:t>
            </a:r>
            <a:endParaRPr lang="en-US" sz="1100"/>
          </a:p>
        </p:txBody>
      </p:sp>
      <p:pic>
        <p:nvPicPr>
          <p:cNvPr id="93" name="Picture 19"/>
          <p:cNvPicPr>
            <a:picLocks noChangeAspect="true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false" flipV="false">
            <a:off x="4622800" y="2667000"/>
            <a:ext cx="177800" cy="177800"/>
          </a:xfrm>
          <a:prstGeom prst="rect">
            <a:avLst/>
          </a:prstGeom>
        </p:spPr>
      </p:pic>
      <p:sp>
        <p:nvSpPr>
          <p:cNvPr id="94" name="AutoShape 20"/>
          <p:cNvSpPr/>
          <p:nvPr/>
        </p:nvSpPr>
        <p:spPr>
          <a:xfrm rot="0" flipH="false" flipV="false">
            <a:off x="4927600" y="2641600"/>
            <a:ext cx="228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false" anchor="ctr" anchorCtr="false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false" i="false" u="none" strike="noStrike">
                <a:solidFill>
                  <a:srgbClr val="E5E7EB"/>
                </a:solidFill>
                <a:latin typeface="PingFang SC"/>
                <a:ea typeface="PingFang SC"/>
                <a:cs typeface="PingFang SC"/>
                <a:sym typeface="PingFang SC"/>
              </a:rPr>
              <a:t>PE/PB/ROE</a:t>
            </a:r>
            <a:endParaRPr lang="en-US" sz="1100"/>
          </a:p>
        </p:txBody>
      </p:sp>
      <p:pic>
        <p:nvPicPr>
          <p:cNvPr id="95" name="Picture 21"/>
          <p:cNvPicPr>
            <a:picLocks noChangeAspect="true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false" flipV="false">
            <a:off x="4622800" y="3048000"/>
            <a:ext cx="177800" cy="177800"/>
          </a:xfrm>
          <a:prstGeom prst="rect">
            <a:avLst/>
          </a:prstGeom>
        </p:spPr>
      </p:pic>
      <p:sp>
        <p:nvSpPr>
          <p:cNvPr id="96" name="AutoShape 22"/>
          <p:cNvSpPr/>
          <p:nvPr/>
        </p:nvSpPr>
        <p:spPr>
          <a:xfrm rot="0" flipH="false" flipV="false">
            <a:off x="4927600" y="3022600"/>
            <a:ext cx="228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false" anchor="ctr" anchorCtr="false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false" i="false" u="none" strike="noStrike">
                <a:solidFill>
                  <a:srgbClr val="E5E7EB"/>
                </a:solidFill>
                <a:latin typeface="PingFang SC"/>
                <a:ea typeface="PingFang SC"/>
                <a:cs typeface="PingFang SC"/>
                <a:sym typeface="PingFang SC"/>
              </a:rPr>
              <a:t>营收增长</a:t>
            </a:r>
            <a:endParaRPr lang="en-US" sz="1100"/>
          </a:p>
        </p:txBody>
      </p:sp>
      <p:pic>
        <p:nvPicPr>
          <p:cNvPr id="97" name="Picture 23"/>
          <p:cNvPicPr>
            <a:picLocks noChangeAspect="true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false" flipV="false">
            <a:off x="4622800" y="3429000"/>
            <a:ext cx="177800" cy="177800"/>
          </a:xfrm>
          <a:prstGeom prst="rect">
            <a:avLst/>
          </a:prstGeom>
        </p:spPr>
      </p:pic>
      <p:sp>
        <p:nvSpPr>
          <p:cNvPr id="98" name="AutoShape 24"/>
          <p:cNvSpPr/>
          <p:nvPr/>
        </p:nvSpPr>
        <p:spPr>
          <a:xfrm rot="0" flipH="false" flipV="false">
            <a:off x="4927600" y="3403600"/>
            <a:ext cx="228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false" anchor="ctr" anchorCtr="false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false" i="false" u="none" strike="noStrike">
                <a:solidFill>
                  <a:srgbClr val="E5E7EB"/>
                </a:solidFill>
                <a:latin typeface="PingFang SC"/>
                <a:ea typeface="PingFang SC"/>
                <a:cs typeface="PingFang SC"/>
                <a:sym typeface="PingFang SC"/>
              </a:rPr>
              <a:t>债务结构 &amp; 现金流</a:t>
            </a:r>
            <a:endParaRPr lang="en-US" sz="1100"/>
          </a:p>
        </p:txBody>
      </p:sp>
      <p:sp>
        <p:nvSpPr>
          <p:cNvPr id="99" name="AutoShape 25"/>
          <p:cNvSpPr/>
          <p:nvPr/>
        </p:nvSpPr>
        <p:spPr>
          <a:xfrm rot="0" flipH="false" flipV="false">
            <a:off x="8128000" y="1955800"/>
            <a:ext cx="3454400" cy="2032000"/>
          </a:xfrm>
          <a:prstGeom prst="roundRect">
            <a:avLst>
              <a:gd name="adj" fmla="val 5000"/>
            </a:avLst>
          </a:prstGeom>
          <a:solidFill>
            <a:srgbClr val="3B82F6">
              <a:alpha val="15000"/>
            </a:srgbClr>
          </a:solidFill>
          <a:ln w="12700" cap="flat" cmpd="sng">
            <a:solidFill>
              <a:srgbClr val="3B82F6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false" anchor="ctr"/>
          <a:lstStyle/>
          <a:p>
            <a:pPr algn="ctr">
              <a:defRPr/>
            </a:pPr>
            <a:endParaRPr/>
          </a:p>
        </p:txBody>
      </p:sp>
      <p:pic>
        <p:nvPicPr>
          <p:cNvPr id="100" name="Picture 26"/>
          <p:cNvPicPr>
            <a:picLocks noChangeAspect="true"/>
          </p:cNvPicPr>
          <p:nvPr/>
        </p:nvPicPr>
        <p:blipFill>
          <a:blip>
            <a:extLst>
              <a:ext uri="{96DAC541-7B7A-43D3-8B79-37D633B846F1}">
                <asvg:svgBlip r:embed="rId6"/>
              </a:ext>
            </a:extLst>
          </a:blip>
          <a:stretch>
            <a:fillRect/>
          </a:stretch>
        </p:blipFill>
        <p:spPr>
          <a:xfrm rot="0" flipH="false" flipV="false">
            <a:off x="8331200" y="2159000"/>
            <a:ext cx="304800" cy="304800"/>
          </a:xfrm>
          <a:prstGeom prst="rect">
            <a:avLst/>
          </a:prstGeom>
        </p:spPr>
      </p:pic>
      <p:sp>
        <p:nvSpPr>
          <p:cNvPr id="101" name="AutoShape 27"/>
          <p:cNvSpPr/>
          <p:nvPr/>
        </p:nvSpPr>
        <p:spPr>
          <a:xfrm rot="0" flipH="false" flipV="false">
            <a:off x="8788400" y="21717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false" anchor="ctr" anchorCtr="false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true" i="false" u="none" strike="noStrike">
                <a:solidFill>
                  <a:srgbClr val="FFFFFF"/>
                </a:solidFill>
                <a:latin typeface="PingFang SC"/>
                <a:ea typeface="PingFang SC"/>
                <a:cs typeface="PingFang SC"/>
                <a:sym typeface="PingFang SC"/>
              </a:rPr>
              <a:t>新闻数据 /news</a:t>
            </a:r>
            <a:endParaRPr lang="en-US" sz="1100"/>
          </a:p>
        </p:txBody>
      </p:sp>
      <p:pic>
        <p:nvPicPr>
          <p:cNvPr id="102" name="Picture 28"/>
          <p:cNvPicPr>
            <a:picLocks noChangeAspect="true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false" flipV="false">
            <a:off x="8382000" y="2667000"/>
            <a:ext cx="177800" cy="177800"/>
          </a:xfrm>
          <a:prstGeom prst="rect">
            <a:avLst/>
          </a:prstGeom>
        </p:spPr>
      </p:pic>
      <p:sp>
        <p:nvSpPr>
          <p:cNvPr id="103" name="AutoShape 29"/>
          <p:cNvSpPr/>
          <p:nvPr/>
        </p:nvSpPr>
        <p:spPr>
          <a:xfrm rot="0" flipH="false" flipV="false">
            <a:off x="8686800" y="2641600"/>
            <a:ext cx="228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false" anchor="ctr" anchorCtr="false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false" i="false" u="none" strike="noStrike">
                <a:solidFill>
                  <a:srgbClr val="E5E7EB"/>
                </a:solidFill>
                <a:latin typeface="PingFang SC"/>
                <a:ea typeface="PingFang SC"/>
                <a:cs typeface="PingFang SC"/>
                <a:sym typeface="PingFang SC"/>
              </a:rPr>
              <a:t>新闻列表</a:t>
            </a:r>
            <a:endParaRPr lang="en-US" sz="1100"/>
          </a:p>
        </p:txBody>
      </p:sp>
      <p:pic>
        <p:nvPicPr>
          <p:cNvPr id="104" name="Picture 30"/>
          <p:cNvPicPr>
            <a:picLocks noChangeAspect="true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false" flipV="false">
            <a:off x="8382000" y="3048000"/>
            <a:ext cx="177800" cy="177800"/>
          </a:xfrm>
          <a:prstGeom prst="rect">
            <a:avLst/>
          </a:prstGeom>
        </p:spPr>
      </p:pic>
      <p:sp>
        <p:nvSpPr>
          <p:cNvPr id="105" name="AutoShape 31"/>
          <p:cNvSpPr/>
          <p:nvPr/>
        </p:nvSpPr>
        <p:spPr>
          <a:xfrm rot="0" flipH="false" flipV="false">
            <a:off x="8686800" y="3022600"/>
            <a:ext cx="228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false" anchor="ctr" anchorCtr="false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false" i="false" u="none" strike="noStrike">
                <a:solidFill>
                  <a:srgbClr val="E5E7EB"/>
                </a:solidFill>
                <a:latin typeface="PingFang SC"/>
                <a:ea typeface="PingFang SC"/>
                <a:cs typeface="PingFang SC"/>
                <a:sym typeface="PingFang SC"/>
              </a:rPr>
              <a:t>情绪分析</a:t>
            </a:r>
            <a:endParaRPr lang="en-US" sz="1100"/>
          </a:p>
        </p:txBody>
      </p:sp>
      <p:pic>
        <p:nvPicPr>
          <p:cNvPr id="106" name="Picture 32"/>
          <p:cNvPicPr>
            <a:picLocks noChangeAspect="true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false" flipV="false">
            <a:off x="8382000" y="3429000"/>
            <a:ext cx="177800" cy="177800"/>
          </a:xfrm>
          <a:prstGeom prst="rect">
            <a:avLst/>
          </a:prstGeom>
        </p:spPr>
      </p:pic>
      <p:sp>
        <p:nvSpPr>
          <p:cNvPr id="107" name="AutoShape 33"/>
          <p:cNvSpPr/>
          <p:nvPr/>
        </p:nvSpPr>
        <p:spPr>
          <a:xfrm rot="0" flipH="false" flipV="false">
            <a:off x="8686800" y="3403600"/>
            <a:ext cx="228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false" anchor="ctr" anchorCtr="false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false" i="false" u="none" strike="noStrike">
                <a:solidFill>
                  <a:srgbClr val="E5E7EB"/>
                </a:solidFill>
                <a:latin typeface="PingFang SC"/>
                <a:ea typeface="PingFang SC"/>
                <a:cs typeface="PingFang SC"/>
                <a:sym typeface="PingFang SC"/>
              </a:rPr>
              <a:t>文本提取 &amp; 来源标注</a:t>
            </a:r>
            <a:endParaRPr lang="en-US" sz="1100"/>
          </a:p>
        </p:txBody>
      </p:sp>
      <p:pic>
        <p:nvPicPr>
          <p:cNvPr id="108" name="Picture 34"/>
          <p:cNvPicPr>
            <a:picLocks noChangeAspect="true"/>
          </p:cNvPicPr>
          <p:nvPr/>
        </p:nvPicPr>
        <p:blipFill>
          <a:blip>
            <a:extLst>
              <a:ext uri="{96DAC541-7B7A-43D3-8B79-37D633B846F1}">
                <asvg:svgBlip r:embed="rId7"/>
              </a:ext>
            </a:extLst>
          </a:blip>
          <a:stretch>
            <a:fillRect/>
          </a:stretch>
        </p:blipFill>
        <p:spPr>
          <a:xfrm rot="0" flipH="false" flipV="false">
            <a:off x="2184400" y="4114800"/>
            <a:ext cx="304800" cy="304800"/>
          </a:xfrm>
          <a:prstGeom prst="rect">
            <a:avLst/>
          </a:prstGeom>
        </p:spPr>
      </p:pic>
      <p:pic>
        <p:nvPicPr>
          <p:cNvPr id="109" name="Picture 35"/>
          <p:cNvPicPr>
            <a:picLocks noChangeAspect="true"/>
          </p:cNvPicPr>
          <p:nvPr/>
        </p:nvPicPr>
        <p:blipFill>
          <a:blip>
            <a:extLst>
              <a:ext uri="{96DAC541-7B7A-43D3-8B79-37D633B846F1}">
                <asvg:svgBlip r:embed="rId7"/>
              </a:ext>
            </a:extLst>
          </a:blip>
          <a:stretch>
            <a:fillRect/>
          </a:stretch>
        </p:blipFill>
        <p:spPr>
          <a:xfrm rot="0" flipH="false" flipV="false">
            <a:off x="5943600" y="4114800"/>
            <a:ext cx="304800" cy="304800"/>
          </a:xfrm>
          <a:prstGeom prst="rect">
            <a:avLst/>
          </a:prstGeom>
        </p:spPr>
      </p:pic>
      <p:pic>
        <p:nvPicPr>
          <p:cNvPr id="110" name="Picture 36"/>
          <p:cNvPicPr>
            <a:picLocks noChangeAspect="true"/>
          </p:cNvPicPr>
          <p:nvPr/>
        </p:nvPicPr>
        <p:blipFill>
          <a:blip>
            <a:extLst>
              <a:ext uri="{96DAC541-7B7A-43D3-8B79-37D633B846F1}">
                <asvg:svgBlip r:embed="rId7"/>
              </a:ext>
            </a:extLst>
          </a:blip>
          <a:stretch>
            <a:fillRect/>
          </a:stretch>
        </p:blipFill>
        <p:spPr>
          <a:xfrm rot="0" flipH="false" flipV="false">
            <a:off x="9702800" y="4114800"/>
            <a:ext cx="304800" cy="304800"/>
          </a:xfrm>
          <a:prstGeom prst="rect">
            <a:avLst/>
          </a:prstGeom>
        </p:spPr>
      </p:pic>
      <p:sp>
        <p:nvSpPr>
          <p:cNvPr id="111" name="AutoShape 37"/>
          <p:cNvSpPr/>
          <p:nvPr/>
        </p:nvSpPr>
        <p:spPr>
          <a:xfrm rot="0" flipH="false" flipV="false">
            <a:off x="609600" y="4572000"/>
            <a:ext cx="109728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false" anchor="ctr" anchorCtr="false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true" i="false" u="none" strike="noStrike">
                <a:solidFill>
                  <a:srgbClr val="FFFFFF"/>
                </a:solidFill>
                <a:latin typeface="PingFang SC"/>
                <a:ea typeface="PingFang SC"/>
                <a:cs typeface="PingFang SC"/>
                <a:sym typeface="PingFang SC"/>
              </a:rPr>
              <a:t>结构化JSON输出</a:t>
            </a:r>
            <a:endParaRPr lang="en-US" sz="1100"/>
          </a:p>
        </p:txBody>
      </p:sp>
      <p:sp>
        <p:nvSpPr>
          <p:cNvPr id="112" name="AutoShape 38"/>
          <p:cNvSpPr/>
          <p:nvPr/>
        </p:nvSpPr>
        <p:spPr>
          <a:xfrm rot="0" flipH="false" flipV="false">
            <a:off x="609600" y="5003800"/>
            <a:ext cx="10972800" cy="1016000"/>
          </a:xfrm>
          <a:prstGeom prst="roundRect">
            <a:avLst>
              <a:gd name="adj" fmla="val 10000"/>
            </a:avLst>
          </a:prstGeom>
          <a:solidFill>
            <a:srgbClr val="1E293B">
              <a:alpha val="80000"/>
            </a:srgbClr>
          </a:solidFill>
          <a:ln w="12700" cap="flat" cmpd="sng">
            <a:solidFill>
              <a:srgbClr val="06B6D4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false" anchor="ctr"/>
          <a:lstStyle/>
          <a:p>
            <a:pPr algn="ctr">
              <a:defRPr/>
            </a:pPr>
            <a:endParaRPr/>
          </a:p>
        </p:txBody>
      </p:sp>
      <p:sp>
        <p:nvSpPr>
          <p:cNvPr id="113" name="AutoShape 39"/>
          <p:cNvSpPr/>
          <p:nvPr/>
        </p:nvSpPr>
        <p:spPr>
          <a:xfrm rot="0" flipH="false" flipV="false">
            <a:off x="812800" y="5130800"/>
            <a:ext cx="1054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false" anchor="ctr" anchorCtr="false"/>
          <a:lstStyle/>
          <a:p>
            <a:pPr indent="0" algn="l">
              <a:lnSpc>
                <a:spcPct val="116666"/>
              </a:lnSpc>
              <a:defRPr/>
            </a:pPr>
            <a:r>
              <a:rPr lang="en-US" sz="1400" b="false" i="false" u="none" strike="noStrike">
                <a:solidFill>
                  <a:srgbClr val="E5E7EB"/>
                </a:solidFill>
                <a:latin typeface="Roboto Mono"/>
                <a:ea typeface="Roboto Mono"/>
                <a:cs typeface="Roboto Mono"/>
                <a:sym typeface="Roboto Mono"/>
              </a:rPr>
              <a:t>[ {"date": "2024-01-15", "close": 178.52}, {"date": "2024-01-16", "close": 179.23} ]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bg>
      <p:bgPr>
        <a:solidFill>
          <a:srgbClr val="111827">
            <a:alpha val="100000"/>
          </a:srgbClr>
        </a:solidFill>
      </p:bgPr>
    </p:bg>
    <p:spTree>
      <p:nvGrpSpPr>
        <p:cNvPr id="11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Picture 2"/>
          <p:cNvPicPr>
            <a:picLocks noChangeAspect="true"/>
          </p:cNvPicPr>
          <p:nvPr/>
        </p:nvPicPr>
        <p:blipFill>
          <a:blip r:embed="rId2"/>
          <a:srcRect l="0" t="21875" r="0" b="21875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16" name="AutoShape 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11827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false" anchor="ctr"/>
          <a:lstStyle/>
          <a:p>
            <a:pPr algn="ctr">
              <a:defRPr/>
            </a:pPr>
            <a:endParaRPr/>
          </a:p>
        </p:txBody>
      </p:sp>
      <p:sp>
        <p:nvSpPr>
          <p:cNvPr id="117" name="AutoShape 4"/>
          <p:cNvSpPr/>
          <p:nvPr/>
        </p:nvSpPr>
        <p:spPr>
          <a:xfrm rot="0" flipH="false" flipV="false">
            <a:off x="609600" y="381000"/>
            <a:ext cx="109728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false" anchor="ctr" anchorCtr="false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true" i="false" u="none" strike="noStrike">
                <a:solidFill>
                  <a:srgbClr val="F59E0B"/>
                </a:solidFill>
                <a:latin typeface="PingFang SC"/>
                <a:ea typeface="PingFang SC"/>
                <a:cs typeface="PingFang SC"/>
                <a:sym typeface="PingFang SC"/>
              </a:rPr>
              <a:t>数据分析类工具</a:t>
            </a:r>
            <a:endParaRPr lang="en-US" sz="1100"/>
          </a:p>
        </p:txBody>
      </p:sp>
      <p:sp>
        <p:nvSpPr>
          <p:cNvPr id="118" name="AutoShape 5"/>
          <p:cNvSpPr/>
          <p:nvPr/>
        </p:nvSpPr>
        <p:spPr>
          <a:xfrm rot="0" flipH="false" flipV="false">
            <a:off x="609600" y="1016000"/>
            <a:ext cx="109728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false" anchor="ctr" anchorCtr="false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false" i="false" u="none" strike="noStrike">
                <a:solidFill>
                  <a:srgbClr val="FFFFFF"/>
                </a:solidFill>
                <a:latin typeface="PingFang SC"/>
                <a:ea typeface="PingFang SC"/>
                <a:cs typeface="PingFang SC"/>
                <a:sym typeface="PingFang SC"/>
              </a:rPr>
              <a:t>17位AI投资分析师</a:t>
            </a:r>
            <a:endParaRPr lang="en-US" sz="1100"/>
          </a:p>
        </p:txBody>
      </p:sp>
      <p:cxnSp>
        <p:nvCxnSpPr>
          <p:cNvPr id="119" name="Connector 6"/>
          <p:cNvCxnSpPr/>
          <p:nvPr/>
        </p:nvCxnSpPr>
        <p:spPr>
          <a:xfrm rot="-3978" flipH="false" flipV="false">
            <a:off x="609604" y="15176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59E0B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0" name="AutoShape 7"/>
          <p:cNvSpPr/>
          <p:nvPr/>
        </p:nvSpPr>
        <p:spPr>
          <a:xfrm rot="0" flipH="false" flipV="false">
            <a:off x="609600" y="1778000"/>
            <a:ext cx="533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false" anchor="ctr" anchorCtr="false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true" i="false" u="none" strike="noStrike">
                <a:solidFill>
                  <a:srgbClr val="FFFFFF"/>
                </a:solidFill>
                <a:latin typeface="PingFang SC"/>
                <a:ea typeface="PingFang SC"/>
                <a:cs typeface="PingFang SC"/>
                <a:sym typeface="PingFang SC"/>
              </a:rPr>
              <a:t>投资风格分析师 (12个)</a:t>
            </a:r>
            <a:endParaRPr lang="en-US" sz="1100"/>
          </a:p>
        </p:txBody>
      </p:sp>
      <p:sp>
        <p:nvSpPr>
          <p:cNvPr id="121" name="AutoShape 8"/>
          <p:cNvSpPr/>
          <p:nvPr/>
        </p:nvSpPr>
        <p:spPr>
          <a:xfrm rot="0" flipH="false" flipV="false">
            <a:off x="609600" y="2209800"/>
            <a:ext cx="2590800" cy="889000"/>
          </a:xfrm>
          <a:prstGeom prst="roundRect">
            <a:avLst>
              <a:gd name="adj" fmla="val 11428"/>
            </a:avLst>
          </a:prstGeom>
          <a:solidFill>
            <a:srgbClr val="8B5CF6">
              <a:alpha val="15000"/>
            </a:srgbClr>
          </a:solidFill>
          <a:ln w="12700" cap="flat" cmpd="sng">
            <a:solidFill>
              <a:srgbClr val="8B5CF6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false" anchor="ctr"/>
          <a:lstStyle/>
          <a:p>
            <a:pPr algn="ctr">
              <a:defRPr/>
            </a:pPr>
            <a:endParaRPr/>
          </a:p>
        </p:txBody>
      </p:sp>
      <p:pic>
        <p:nvPicPr>
          <p:cNvPr id="122" name="Picture 9"/>
          <p:cNvPicPr>
            <a:picLocks noChangeAspect="true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false" flipV="false">
            <a:off x="762000" y="2362200"/>
            <a:ext cx="254000" cy="254000"/>
          </a:xfrm>
          <a:prstGeom prst="rect">
            <a:avLst/>
          </a:prstGeom>
        </p:spPr>
      </p:pic>
      <p:sp>
        <p:nvSpPr>
          <p:cNvPr id="123" name="AutoShape 10"/>
          <p:cNvSpPr/>
          <p:nvPr/>
        </p:nvSpPr>
        <p:spPr>
          <a:xfrm rot="0" flipH="false" flipV="false">
            <a:off x="1143000" y="2362200"/>
            <a:ext cx="1905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false" anchor="ctr" anchorCtr="false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true" i="false" u="none" strike="noStrike">
                <a:solidFill>
                  <a:srgbClr val="FFFFFF"/>
                </a:solidFill>
                <a:latin typeface="PingFang SC"/>
                <a:ea typeface="PingFang SC"/>
                <a:cs typeface="PingFang SC"/>
                <a:sym typeface="PingFang SC"/>
              </a:rPr>
              <a:t>价值投资</a:t>
            </a:r>
            <a:endParaRPr lang="en-US" sz="1100"/>
          </a:p>
        </p:txBody>
      </p:sp>
      <p:sp>
        <p:nvSpPr>
          <p:cNvPr id="124" name="AutoShape 11"/>
          <p:cNvSpPr/>
          <p:nvPr/>
        </p:nvSpPr>
        <p:spPr>
          <a:xfrm rot="0" flipH="false" flipV="false">
            <a:off x="1143000" y="2667000"/>
            <a:ext cx="1905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false" anchor="ctr" anchorCtr="false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false" i="false" u="none" strike="noStrike">
                <a:solidFill>
                  <a:srgbClr val="E5E7EB"/>
                </a:solidFill>
                <a:latin typeface="PingFang SC"/>
                <a:ea typeface="PingFang SC"/>
                <a:cs typeface="PingFang SC"/>
                <a:sym typeface="PingFang SC"/>
              </a:rPr>
              <a:t>护城河、ROE</a:t>
            </a:r>
            <a:endParaRPr lang="en-US" sz="1100"/>
          </a:p>
        </p:txBody>
      </p:sp>
      <p:sp>
        <p:nvSpPr>
          <p:cNvPr id="125" name="AutoShape 12"/>
          <p:cNvSpPr/>
          <p:nvPr/>
        </p:nvSpPr>
        <p:spPr>
          <a:xfrm rot="0" flipH="false" flipV="false">
            <a:off x="3352800" y="2209800"/>
            <a:ext cx="2590800" cy="889000"/>
          </a:xfrm>
          <a:prstGeom prst="roundRect">
            <a:avLst>
              <a:gd name="adj" fmla="val 11428"/>
            </a:avLst>
          </a:prstGeom>
          <a:solidFill>
            <a:srgbClr val="8B5CF6">
              <a:alpha val="15000"/>
            </a:srgbClr>
          </a:solidFill>
          <a:ln w="12700" cap="flat" cmpd="sng">
            <a:solidFill>
              <a:srgbClr val="8B5CF6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false" anchor="ctr"/>
          <a:lstStyle/>
          <a:p>
            <a:pPr algn="ctr">
              <a:defRPr/>
            </a:pPr>
            <a:endParaRPr/>
          </a:p>
        </p:txBody>
      </p:sp>
      <p:pic>
        <p:nvPicPr>
          <p:cNvPr id="126" name="Picture 13"/>
          <p:cNvPicPr>
            <a:picLocks noChangeAspect="true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false" flipV="false">
            <a:off x="3505200" y="2362200"/>
            <a:ext cx="254000" cy="254000"/>
          </a:xfrm>
          <a:prstGeom prst="rect">
            <a:avLst/>
          </a:prstGeom>
        </p:spPr>
      </p:pic>
      <p:sp>
        <p:nvSpPr>
          <p:cNvPr id="127" name="AutoShape 14"/>
          <p:cNvSpPr/>
          <p:nvPr/>
        </p:nvSpPr>
        <p:spPr>
          <a:xfrm rot="0" flipH="false" flipV="false">
            <a:off x="3886200" y="2362200"/>
            <a:ext cx="1905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false" anchor="ctr" anchorCtr="false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true" i="false" u="none" strike="noStrike">
                <a:solidFill>
                  <a:srgbClr val="FFFFFF"/>
                </a:solidFill>
                <a:latin typeface="PingFang SC"/>
                <a:ea typeface="PingFang SC"/>
                <a:cs typeface="PingFang SC"/>
                <a:sym typeface="PingFang SC"/>
              </a:rPr>
              <a:t>深度价值</a:t>
            </a:r>
            <a:endParaRPr lang="en-US" sz="1100"/>
          </a:p>
        </p:txBody>
      </p:sp>
      <p:sp>
        <p:nvSpPr>
          <p:cNvPr id="128" name="AutoShape 15"/>
          <p:cNvSpPr/>
          <p:nvPr/>
        </p:nvSpPr>
        <p:spPr>
          <a:xfrm rot="0" flipH="false" flipV="false">
            <a:off x="3886200" y="2667000"/>
            <a:ext cx="1905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false" anchor="ctr" anchorCtr="false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false" i="false" u="none" strike="noStrike">
                <a:solidFill>
                  <a:srgbClr val="E5E7EB"/>
                </a:solidFill>
                <a:latin typeface="PingFang SC"/>
                <a:ea typeface="PingFang SC"/>
                <a:cs typeface="PingFang SC"/>
                <a:sym typeface="PingFang SC"/>
              </a:rPr>
              <a:t>安全边际、净净法</a:t>
            </a:r>
            <a:endParaRPr lang="en-US" sz="1100"/>
          </a:p>
        </p:txBody>
      </p:sp>
      <p:sp>
        <p:nvSpPr>
          <p:cNvPr id="129" name="AutoShape 16"/>
          <p:cNvSpPr/>
          <p:nvPr/>
        </p:nvSpPr>
        <p:spPr>
          <a:xfrm rot="0" flipH="false" flipV="false">
            <a:off x="609600" y="3251200"/>
            <a:ext cx="2590800" cy="889000"/>
          </a:xfrm>
          <a:prstGeom prst="roundRect">
            <a:avLst>
              <a:gd name="adj" fmla="val 11428"/>
            </a:avLst>
          </a:prstGeom>
          <a:solidFill>
            <a:srgbClr val="8B5CF6">
              <a:alpha val="15000"/>
            </a:srgbClr>
          </a:solidFill>
          <a:ln w="12700" cap="flat" cmpd="sng">
            <a:solidFill>
              <a:srgbClr val="8B5CF6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false" anchor="ctr"/>
          <a:lstStyle/>
          <a:p>
            <a:pPr algn="ctr">
              <a:defRPr/>
            </a:pPr>
            <a:endParaRPr/>
          </a:p>
        </p:txBody>
      </p:sp>
      <p:pic>
        <p:nvPicPr>
          <p:cNvPr id="130" name="Picture 17"/>
          <p:cNvPicPr>
            <a:picLocks noChangeAspect="true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 rot="0" flipH="false" flipV="false">
            <a:off x="762000" y="3403600"/>
            <a:ext cx="254000" cy="254000"/>
          </a:xfrm>
          <a:prstGeom prst="rect">
            <a:avLst/>
          </a:prstGeom>
        </p:spPr>
      </p:pic>
      <p:sp>
        <p:nvSpPr>
          <p:cNvPr id="131" name="AutoShape 18"/>
          <p:cNvSpPr/>
          <p:nvPr/>
        </p:nvSpPr>
        <p:spPr>
          <a:xfrm rot="0" flipH="false" flipV="false">
            <a:off x="1143000" y="3403600"/>
            <a:ext cx="1905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false" anchor="ctr" anchorCtr="false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true" i="false" u="none" strike="noStrike">
                <a:solidFill>
                  <a:srgbClr val="FFFFFF"/>
                </a:solidFill>
                <a:latin typeface="PingFang SC"/>
                <a:ea typeface="PingFang SC"/>
                <a:cs typeface="PingFang SC"/>
                <a:sym typeface="PingFang SC"/>
              </a:rPr>
              <a:t>成长创新</a:t>
            </a:r>
            <a:endParaRPr lang="en-US" sz="1100"/>
          </a:p>
        </p:txBody>
      </p:sp>
      <p:sp>
        <p:nvSpPr>
          <p:cNvPr id="132" name="AutoShape 19"/>
          <p:cNvSpPr/>
          <p:nvPr/>
        </p:nvSpPr>
        <p:spPr>
          <a:xfrm rot="0" flipH="false" flipV="false">
            <a:off x="1143000" y="3708400"/>
            <a:ext cx="1905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false" anchor="ctr" anchorCtr="false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false" i="false" u="none" strike="noStrike">
                <a:solidFill>
                  <a:srgbClr val="E5E7EB"/>
                </a:solidFill>
                <a:latin typeface="PingFang SC"/>
                <a:ea typeface="PingFang SC"/>
                <a:cs typeface="PingFang SC"/>
                <a:sym typeface="PingFang SC"/>
              </a:rPr>
              <a:t>颠覆性技术、研发投入</a:t>
            </a:r>
            <a:endParaRPr lang="en-US" sz="1100"/>
          </a:p>
        </p:txBody>
      </p:sp>
      <p:sp>
        <p:nvSpPr>
          <p:cNvPr id="133" name="AutoShape 20"/>
          <p:cNvSpPr/>
          <p:nvPr/>
        </p:nvSpPr>
        <p:spPr>
          <a:xfrm rot="0" flipH="false" flipV="false">
            <a:off x="3352800" y="3251200"/>
            <a:ext cx="2590800" cy="889000"/>
          </a:xfrm>
          <a:prstGeom prst="roundRect">
            <a:avLst>
              <a:gd name="adj" fmla="val 11428"/>
            </a:avLst>
          </a:prstGeom>
          <a:solidFill>
            <a:srgbClr val="8B5CF6">
              <a:alpha val="15000"/>
            </a:srgbClr>
          </a:solidFill>
          <a:ln w="12700" cap="flat" cmpd="sng">
            <a:solidFill>
              <a:srgbClr val="8B5CF6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false" anchor="ctr"/>
          <a:lstStyle/>
          <a:p>
            <a:pPr algn="ctr">
              <a:defRPr/>
            </a:pPr>
            <a:endParaRPr/>
          </a:p>
        </p:txBody>
      </p:sp>
      <p:pic>
        <p:nvPicPr>
          <p:cNvPr id="134" name="Picture 21"/>
          <p:cNvPicPr>
            <a:picLocks noChangeAspect="true"/>
          </p:cNvPicPr>
          <p:nvPr/>
        </p:nvPicPr>
        <p:blipFill>
          <a:blip>
            <a:extLst>
              <a:ext uri="{96DAC541-7B7A-43D3-8B79-37D633B846F1}">
                <asvg:svgBlip r:embed="rId6"/>
              </a:ext>
            </a:extLst>
          </a:blip>
          <a:stretch>
            <a:fillRect/>
          </a:stretch>
        </p:blipFill>
        <p:spPr>
          <a:xfrm rot="0" flipH="false" flipV="false">
            <a:off x="3505200" y="3403600"/>
            <a:ext cx="254000" cy="254000"/>
          </a:xfrm>
          <a:prstGeom prst="rect">
            <a:avLst/>
          </a:prstGeom>
        </p:spPr>
      </p:pic>
      <p:sp>
        <p:nvSpPr>
          <p:cNvPr id="135" name="AutoShape 22"/>
          <p:cNvSpPr/>
          <p:nvPr/>
        </p:nvSpPr>
        <p:spPr>
          <a:xfrm rot="0" flipH="false" flipV="false">
            <a:off x="3886200" y="3403600"/>
            <a:ext cx="1905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false" anchor="ctr" anchorCtr="false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true" i="false" u="none" strike="noStrike">
                <a:solidFill>
                  <a:srgbClr val="FFFFFF"/>
                </a:solidFill>
                <a:latin typeface="PingFang SC"/>
                <a:ea typeface="PingFang SC"/>
                <a:cs typeface="PingFang SC"/>
                <a:sym typeface="PingFang SC"/>
              </a:rPr>
              <a:t>质量成长</a:t>
            </a:r>
            <a:endParaRPr lang="en-US" sz="1100"/>
          </a:p>
        </p:txBody>
      </p:sp>
      <p:sp>
        <p:nvSpPr>
          <p:cNvPr id="136" name="AutoShape 23"/>
          <p:cNvSpPr/>
          <p:nvPr/>
        </p:nvSpPr>
        <p:spPr>
          <a:xfrm rot="0" flipH="false" flipV="false">
            <a:off x="3886200" y="3708400"/>
            <a:ext cx="1905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false" anchor="ctr" anchorCtr="false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false" i="false" u="none" strike="noStrike">
                <a:solidFill>
                  <a:srgbClr val="E5E7EB"/>
                </a:solidFill>
                <a:latin typeface="PingFang SC"/>
                <a:ea typeface="PingFang SC"/>
                <a:cs typeface="PingFang SC"/>
                <a:sym typeface="PingFang SC"/>
              </a:rPr>
              <a:t>管理层、定性分析</a:t>
            </a:r>
            <a:endParaRPr lang="en-US" sz="1100"/>
          </a:p>
        </p:txBody>
      </p:sp>
      <p:cxnSp>
        <p:nvCxnSpPr>
          <p:cNvPr id="137" name="Connector 24"/>
          <p:cNvCxnSpPr/>
          <p:nvPr/>
        </p:nvCxnSpPr>
        <p:spPr>
          <a:xfrm rot="5381906" flipH="false" flipV="false">
            <a:off x="4889500" y="2978167"/>
            <a:ext cx="2413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38" name="AutoShape 25"/>
          <p:cNvSpPr/>
          <p:nvPr/>
        </p:nvSpPr>
        <p:spPr>
          <a:xfrm rot="0" flipH="false" flipV="false">
            <a:off x="6248400" y="1778000"/>
            <a:ext cx="533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false" anchor="ctr" anchorCtr="false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true" i="false" u="none" strike="noStrike">
                <a:solidFill>
                  <a:srgbClr val="FFFFFF"/>
                </a:solidFill>
                <a:latin typeface="PingFang SC"/>
                <a:ea typeface="PingFang SC"/>
                <a:cs typeface="PingFang SC"/>
                <a:sym typeface="PingFang SC"/>
              </a:rPr>
              <a:t>技术分析师 (5个)</a:t>
            </a:r>
            <a:endParaRPr lang="en-US" sz="1100"/>
          </a:p>
        </p:txBody>
      </p:sp>
      <p:sp>
        <p:nvSpPr>
          <p:cNvPr id="139" name="AutoShape 26"/>
          <p:cNvSpPr/>
          <p:nvPr/>
        </p:nvSpPr>
        <p:spPr>
          <a:xfrm rot="0" flipH="false" flipV="false">
            <a:off x="6248400" y="2209800"/>
            <a:ext cx="2590800" cy="889000"/>
          </a:xfrm>
          <a:prstGeom prst="roundRect">
            <a:avLst>
              <a:gd name="adj" fmla="val 11428"/>
            </a:avLst>
          </a:prstGeom>
          <a:solidFill>
            <a:srgbClr val="A78BFA">
              <a:alpha val="15000"/>
            </a:srgbClr>
          </a:solidFill>
          <a:ln w="12700" cap="flat" cmpd="sng">
            <a:solidFill>
              <a:srgbClr val="A78BFA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false" anchor="ctr"/>
          <a:lstStyle/>
          <a:p>
            <a:pPr algn="ctr">
              <a:defRPr/>
            </a:pPr>
            <a:endParaRPr/>
          </a:p>
        </p:txBody>
      </p:sp>
      <p:pic>
        <p:nvPicPr>
          <p:cNvPr id="140" name="Picture 27"/>
          <p:cNvPicPr>
            <a:picLocks noChangeAspect="true"/>
          </p:cNvPicPr>
          <p:nvPr/>
        </p:nvPicPr>
        <p:blipFill>
          <a:blip>
            <a:extLst>
              <a:ext uri="{96DAC541-7B7A-43D3-8B79-37D633B846F1}">
                <asvg:svgBlip r:embed="rId7"/>
              </a:ext>
            </a:extLst>
          </a:blip>
          <a:stretch>
            <a:fillRect/>
          </a:stretch>
        </p:blipFill>
        <p:spPr>
          <a:xfrm rot="0" flipH="false" flipV="false">
            <a:off x="6400800" y="2362200"/>
            <a:ext cx="254000" cy="254000"/>
          </a:xfrm>
          <a:prstGeom prst="rect">
            <a:avLst/>
          </a:prstGeom>
        </p:spPr>
      </p:pic>
      <p:sp>
        <p:nvSpPr>
          <p:cNvPr id="141" name="AutoShape 28"/>
          <p:cNvSpPr/>
          <p:nvPr/>
        </p:nvSpPr>
        <p:spPr>
          <a:xfrm rot="0" flipH="false" flipV="false">
            <a:off x="6781800" y="2362200"/>
            <a:ext cx="1905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false" anchor="ctr" anchorCtr="false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true" i="false" u="none" strike="noStrike">
                <a:solidFill>
                  <a:srgbClr val="FFFFFF"/>
                </a:solidFill>
                <a:latin typeface="PingFang SC"/>
                <a:ea typeface="PingFang SC"/>
                <a:cs typeface="PingFang SC"/>
                <a:sym typeface="PingFang SC"/>
              </a:rPr>
              <a:t>技术分析</a:t>
            </a:r>
            <a:endParaRPr lang="en-US" sz="1100"/>
          </a:p>
        </p:txBody>
      </p:sp>
      <p:sp>
        <p:nvSpPr>
          <p:cNvPr id="142" name="AutoShape 29"/>
          <p:cNvSpPr/>
          <p:nvPr/>
        </p:nvSpPr>
        <p:spPr>
          <a:xfrm rot="0" flipH="false" flipV="false">
            <a:off x="6781800" y="2667000"/>
            <a:ext cx="1905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false" anchor="ctr" anchorCtr="false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false" i="false" u="none" strike="noStrike">
                <a:solidFill>
                  <a:srgbClr val="E5E7EB"/>
                </a:solidFill>
                <a:latin typeface="PingFang SC"/>
                <a:ea typeface="PingFang SC"/>
                <a:cs typeface="PingFang SC"/>
                <a:sym typeface="PingFang SC"/>
              </a:rPr>
              <a:t>图表、MACD、RSI</a:t>
            </a:r>
            <a:endParaRPr lang="en-US" sz="1100"/>
          </a:p>
        </p:txBody>
      </p:sp>
      <p:sp>
        <p:nvSpPr>
          <p:cNvPr id="143" name="AutoShape 30"/>
          <p:cNvSpPr/>
          <p:nvPr/>
        </p:nvSpPr>
        <p:spPr>
          <a:xfrm rot="0" flipH="false" flipV="false">
            <a:off x="8991600" y="2209800"/>
            <a:ext cx="2590800" cy="889000"/>
          </a:xfrm>
          <a:prstGeom prst="roundRect">
            <a:avLst>
              <a:gd name="adj" fmla="val 11428"/>
            </a:avLst>
          </a:prstGeom>
          <a:solidFill>
            <a:srgbClr val="A78BFA">
              <a:alpha val="15000"/>
            </a:srgbClr>
          </a:solidFill>
          <a:ln w="12700" cap="flat" cmpd="sng">
            <a:solidFill>
              <a:srgbClr val="A78BFA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false" anchor="ctr"/>
          <a:lstStyle/>
          <a:p>
            <a:pPr algn="ctr">
              <a:defRPr/>
            </a:pPr>
            <a:endParaRPr/>
          </a:p>
        </p:txBody>
      </p:sp>
      <p:pic>
        <p:nvPicPr>
          <p:cNvPr id="144" name="Picture 31"/>
          <p:cNvPicPr>
            <a:picLocks noChangeAspect="true"/>
          </p:cNvPicPr>
          <p:nvPr/>
        </p:nvPicPr>
        <p:blipFill>
          <a:blip>
            <a:extLst>
              <a:ext uri="{96DAC541-7B7A-43D3-8B79-37D633B846F1}">
                <asvg:svgBlip r:embed="rId8"/>
              </a:ext>
            </a:extLst>
          </a:blip>
          <a:stretch>
            <a:fillRect/>
          </a:stretch>
        </p:blipFill>
        <p:spPr>
          <a:xfrm rot="0" flipH="false" flipV="false">
            <a:off x="9144000" y="2362200"/>
            <a:ext cx="254000" cy="254000"/>
          </a:xfrm>
          <a:prstGeom prst="rect">
            <a:avLst/>
          </a:prstGeom>
        </p:spPr>
      </p:pic>
      <p:sp>
        <p:nvSpPr>
          <p:cNvPr id="145" name="AutoShape 32"/>
          <p:cNvSpPr/>
          <p:nvPr/>
        </p:nvSpPr>
        <p:spPr>
          <a:xfrm rot="0" flipH="false" flipV="false">
            <a:off x="9525000" y="2362200"/>
            <a:ext cx="1905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false" anchor="ctr" anchorCtr="false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true" i="false" u="none" strike="noStrike">
                <a:solidFill>
                  <a:srgbClr val="FFFFFF"/>
                </a:solidFill>
                <a:latin typeface="PingFang SC"/>
                <a:ea typeface="PingFang SC"/>
                <a:cs typeface="PingFang SC"/>
                <a:sym typeface="PingFang SC"/>
              </a:rPr>
              <a:t>基本面分析</a:t>
            </a:r>
            <a:endParaRPr lang="en-US" sz="1100"/>
          </a:p>
        </p:txBody>
      </p:sp>
      <p:sp>
        <p:nvSpPr>
          <p:cNvPr id="146" name="AutoShape 33"/>
          <p:cNvSpPr/>
          <p:nvPr/>
        </p:nvSpPr>
        <p:spPr>
          <a:xfrm rot="0" flipH="false" flipV="false">
            <a:off x="9525000" y="2667000"/>
            <a:ext cx="1905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false" anchor="ctr" anchorCtr="false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false" i="false" u="none" strike="noStrike">
                <a:solidFill>
                  <a:srgbClr val="E5E7EB"/>
                </a:solidFill>
                <a:latin typeface="PingFang SC"/>
                <a:ea typeface="PingFang SC"/>
                <a:cs typeface="PingFang SC"/>
                <a:sym typeface="PingFang SC"/>
              </a:rPr>
              <a:t>财报、负债、现金流</a:t>
            </a:r>
            <a:endParaRPr lang="en-US" sz="1100"/>
          </a:p>
        </p:txBody>
      </p:sp>
      <p:sp>
        <p:nvSpPr>
          <p:cNvPr id="147" name="AutoShape 34"/>
          <p:cNvSpPr/>
          <p:nvPr/>
        </p:nvSpPr>
        <p:spPr>
          <a:xfrm rot="0" flipH="false" flipV="false">
            <a:off x="6248400" y="3251200"/>
            <a:ext cx="2590800" cy="889000"/>
          </a:xfrm>
          <a:prstGeom prst="roundRect">
            <a:avLst>
              <a:gd name="adj" fmla="val 11428"/>
            </a:avLst>
          </a:prstGeom>
          <a:solidFill>
            <a:srgbClr val="A78BFA">
              <a:alpha val="15000"/>
            </a:srgbClr>
          </a:solidFill>
          <a:ln w="12700" cap="flat" cmpd="sng">
            <a:solidFill>
              <a:srgbClr val="A78BFA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false" anchor="ctr"/>
          <a:lstStyle/>
          <a:p>
            <a:pPr algn="ctr">
              <a:defRPr/>
            </a:pPr>
            <a:endParaRPr/>
          </a:p>
        </p:txBody>
      </p:sp>
      <p:pic>
        <p:nvPicPr>
          <p:cNvPr id="148" name="Picture 35"/>
          <p:cNvPicPr>
            <a:picLocks noChangeAspect="true"/>
          </p:cNvPicPr>
          <p:nvPr/>
        </p:nvPicPr>
        <p:blipFill>
          <a:blip>
            <a:extLst>
              <a:ext uri="{96DAC541-7B7A-43D3-8B79-37D633B846F1}">
                <asvg:svgBlip r:embed="rId9"/>
              </a:ext>
            </a:extLst>
          </a:blip>
          <a:stretch>
            <a:fillRect/>
          </a:stretch>
        </p:blipFill>
        <p:spPr>
          <a:xfrm rot="0" flipH="false" flipV="false">
            <a:off x="6400800" y="3403600"/>
            <a:ext cx="254000" cy="254000"/>
          </a:xfrm>
          <a:prstGeom prst="rect">
            <a:avLst/>
          </a:prstGeom>
        </p:spPr>
      </p:pic>
      <p:sp>
        <p:nvSpPr>
          <p:cNvPr id="149" name="AutoShape 36"/>
          <p:cNvSpPr/>
          <p:nvPr/>
        </p:nvSpPr>
        <p:spPr>
          <a:xfrm rot="0" flipH="false" flipV="false">
            <a:off x="6781800" y="3403600"/>
            <a:ext cx="1905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false" anchor="ctr" anchorCtr="false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true" i="false" u="none" strike="noStrike">
                <a:solidFill>
                  <a:srgbClr val="FFFFFF"/>
                </a:solidFill>
                <a:latin typeface="PingFang SC"/>
                <a:ea typeface="PingFang SC"/>
                <a:cs typeface="PingFang SC"/>
                <a:sym typeface="PingFang SC"/>
              </a:rPr>
              <a:t>增长分析</a:t>
            </a:r>
            <a:endParaRPr lang="en-US" sz="1100"/>
          </a:p>
        </p:txBody>
      </p:sp>
      <p:sp>
        <p:nvSpPr>
          <p:cNvPr id="150" name="AutoShape 37"/>
          <p:cNvSpPr/>
          <p:nvPr/>
        </p:nvSpPr>
        <p:spPr>
          <a:xfrm rot="0" flipH="false" flipV="false">
            <a:off x="6781800" y="3708400"/>
            <a:ext cx="1905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false" anchor="ctr" anchorCtr="false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false" i="false" u="none" strike="noStrike">
                <a:solidFill>
                  <a:srgbClr val="E5E7EB"/>
                </a:solidFill>
                <a:latin typeface="PingFang SC"/>
                <a:ea typeface="PingFang SC"/>
                <a:cs typeface="PingFang SC"/>
                <a:sym typeface="PingFang SC"/>
              </a:rPr>
              <a:t>收入、利润、YOY</a:t>
            </a:r>
            <a:endParaRPr lang="en-US" sz="1100"/>
          </a:p>
        </p:txBody>
      </p:sp>
      <p:sp>
        <p:nvSpPr>
          <p:cNvPr id="151" name="AutoShape 38"/>
          <p:cNvSpPr/>
          <p:nvPr/>
        </p:nvSpPr>
        <p:spPr>
          <a:xfrm rot="0" flipH="false" flipV="false">
            <a:off x="8991600" y="3251200"/>
            <a:ext cx="2590800" cy="889000"/>
          </a:xfrm>
          <a:prstGeom prst="roundRect">
            <a:avLst>
              <a:gd name="adj" fmla="val 11428"/>
            </a:avLst>
          </a:prstGeom>
          <a:solidFill>
            <a:srgbClr val="A78BFA">
              <a:alpha val="15000"/>
            </a:srgbClr>
          </a:solidFill>
          <a:ln w="12700" cap="flat" cmpd="sng">
            <a:solidFill>
              <a:srgbClr val="A78BFA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false" anchor="ctr"/>
          <a:lstStyle/>
          <a:p>
            <a:pPr algn="ctr">
              <a:defRPr/>
            </a:pPr>
            <a:endParaRPr/>
          </a:p>
        </p:txBody>
      </p:sp>
      <p:pic>
        <p:nvPicPr>
          <p:cNvPr id="152" name="Picture 39"/>
          <p:cNvPicPr>
            <a:picLocks noChangeAspect="true"/>
          </p:cNvPicPr>
          <p:nvPr/>
        </p:nvPicPr>
        <p:blipFill>
          <a:blip>
            <a:extLst>
              <a:ext uri="{96DAC541-7B7A-43D3-8B79-37D633B846F1}">
                <asvg:svgBlip r:embed="rId10"/>
              </a:ext>
            </a:extLst>
          </a:blip>
          <a:stretch>
            <a:fillRect/>
          </a:stretch>
        </p:blipFill>
        <p:spPr>
          <a:xfrm rot="0" flipH="false" flipV="false">
            <a:off x="9144000" y="3403600"/>
            <a:ext cx="254000" cy="254000"/>
          </a:xfrm>
          <a:prstGeom prst="rect">
            <a:avLst/>
          </a:prstGeom>
        </p:spPr>
      </p:pic>
      <p:sp>
        <p:nvSpPr>
          <p:cNvPr id="153" name="AutoShape 40"/>
          <p:cNvSpPr/>
          <p:nvPr/>
        </p:nvSpPr>
        <p:spPr>
          <a:xfrm rot="0" flipH="false" flipV="false">
            <a:off x="9525000" y="3403600"/>
            <a:ext cx="1905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false" anchor="ctr" anchorCtr="false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true" i="false" u="none" strike="noStrike">
                <a:solidFill>
                  <a:srgbClr val="FFFFFF"/>
                </a:solidFill>
                <a:latin typeface="PingFang SC"/>
                <a:ea typeface="PingFang SC"/>
                <a:cs typeface="PingFang SC"/>
                <a:sym typeface="PingFang SC"/>
              </a:rPr>
              <a:t>估值分析</a:t>
            </a:r>
            <a:endParaRPr lang="en-US" sz="1100"/>
          </a:p>
        </p:txBody>
      </p:sp>
      <p:sp>
        <p:nvSpPr>
          <p:cNvPr id="154" name="AutoShape 41"/>
          <p:cNvSpPr/>
          <p:nvPr/>
        </p:nvSpPr>
        <p:spPr>
          <a:xfrm rot="0" flipH="false" flipV="false">
            <a:off x="9525000" y="3708400"/>
            <a:ext cx="1905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false" anchor="ctr" anchorCtr="false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false" i="false" u="none" strike="noStrike">
                <a:solidFill>
                  <a:srgbClr val="E5E7EB"/>
                </a:solidFill>
                <a:latin typeface="PingFang SC"/>
                <a:ea typeface="PingFang SC"/>
                <a:cs typeface="PingFang SC"/>
                <a:sym typeface="PingFang SC"/>
              </a:rPr>
              <a:t>PE/PB、DCF</a:t>
            </a:r>
            <a:endParaRPr lang="en-US" sz="1100"/>
          </a:p>
        </p:txBody>
      </p:sp>
      <p:cxnSp>
        <p:nvCxnSpPr>
          <p:cNvPr id="155" name="Connector 42"/>
          <p:cNvCxnSpPr/>
          <p:nvPr/>
        </p:nvCxnSpPr>
        <p:spPr>
          <a:xfrm rot="-3978" flipH="false" flipV="false">
            <a:off x="609604" y="43878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59E0B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6" name="AutoShape 43"/>
          <p:cNvSpPr/>
          <p:nvPr/>
        </p:nvSpPr>
        <p:spPr>
          <a:xfrm rot="0" flipH="false" flipV="false">
            <a:off x="609600" y="4597400"/>
            <a:ext cx="109728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false" anchor="ctr" anchorCtr="false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true" i="false" u="none" strike="noStrike">
                <a:solidFill>
                  <a:srgbClr val="FFFFFF"/>
                </a:solidFill>
                <a:latin typeface="PingFang SC"/>
                <a:ea typeface="PingFang SC"/>
                <a:cs typeface="PingFang SC"/>
                <a:sym typeface="PingFang SC"/>
              </a:rPr>
              <a:t>统一输出格式</a:t>
            </a:r>
            <a:endParaRPr lang="en-US" sz="1100"/>
          </a:p>
        </p:txBody>
      </p:sp>
      <p:sp>
        <p:nvSpPr>
          <p:cNvPr id="157" name="AutoShape 44"/>
          <p:cNvSpPr/>
          <p:nvPr/>
        </p:nvSpPr>
        <p:spPr>
          <a:xfrm rot="0" flipH="false" flipV="false">
            <a:off x="609600" y="5029200"/>
            <a:ext cx="10972800" cy="1143000"/>
          </a:xfrm>
          <a:prstGeom prst="roundRect">
            <a:avLst>
              <a:gd name="adj" fmla="val 8888"/>
            </a:avLst>
          </a:prstGeom>
          <a:solidFill>
            <a:srgbClr val="1F2937">
              <a:alpha val="100000"/>
            </a:srgbClr>
          </a:solidFill>
          <a:ln w="12700" cap="flat" cmpd="sng">
            <a:solidFill>
              <a:srgbClr val="4B5563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false" anchor="ctr"/>
          <a:lstStyle/>
          <a:p>
            <a:pPr algn="ctr">
              <a:defRPr/>
            </a:pPr>
            <a:endParaRPr/>
          </a:p>
        </p:txBody>
      </p:sp>
      <p:sp>
        <p:nvSpPr>
          <p:cNvPr id="158" name="AutoShape 45"/>
          <p:cNvSpPr/>
          <p:nvPr/>
        </p:nvSpPr>
        <p:spPr>
          <a:xfrm rot="0" flipH="false" flipV="false">
            <a:off x="762000" y="5156200"/>
            <a:ext cx="1066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false" anchor="t" anchorCtr="false"/>
          <a:lstStyle/>
          <a:p>
            <a:pPr indent="0" algn="l">
              <a:lnSpc>
                <a:spcPct val="116666"/>
              </a:lnSpc>
              <a:defRPr/>
            </a:pPr>
            <a:r>
              <a:rPr lang="en-US" sz="1300" b="false" i="false" u="none" strike="noStrike">
                <a:solidFill>
                  <a:srgbClr val="9CA3AF"/>
                </a:solidFill>
                <a:latin typeface="Roboto Mono"/>
                <a:ea typeface="Roboto Mono"/>
                <a:cs typeface="Roboto Mono"/>
                <a:sym typeface="Roboto Mono"/>
              </a:rPr>
              <a:t>{</a:t>
            </a:r>
            <a:endParaRPr lang="en-US" sz="1100"/>
          </a:p>
          <a:p>
            <a:pPr marL="190500" indent="0" algn="l">
              <a:lnSpc>
                <a:spcPct val="116666"/>
              </a:lnSpc>
            </a:pPr>
            <a:r>
              <a:rPr lang="en-US" sz="1300" b="false" i="false" u="none" strike="noStrike">
                <a:solidFill>
                  <a:srgbClr val="9CA3AF"/>
                </a:solidFill>
                <a:latin typeface="Roboto Mono"/>
                <a:ea typeface="Roboto Mono"/>
                <a:cs typeface="Roboto Mono"/>
                <a:sym typeface="Roboto Mono"/>
              </a:rPr>
              <a:t>"signal": "bullish", "confidence": 90, "reasoning": "...", "analyst_name": "..."</a:t>
            </a:r>
            <a:endParaRPr/>
          </a:p>
          <a:p>
            <a:pPr indent="0" algn="l">
              <a:lnSpc>
                <a:spcPct val="116666"/>
              </a:lnSpc>
            </a:pPr>
            <a:r>
              <a:rPr lang="en-US" sz="1300" b="false" i="false" u="none" strike="noStrike">
                <a:solidFill>
                  <a:srgbClr val="9CA3AF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bg>
      <p:bgPr>
        <a:solidFill>
          <a:srgbClr val="111827">
            <a:alpha val="100000"/>
          </a:srgbClr>
        </a:solidFill>
      </p:bgPr>
    </p:bg>
    <p:spTree>
      <p:nvGrpSpPr>
        <p:cNvPr id="15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Picture 2"/>
          <p:cNvPicPr>
            <a:picLocks noChangeAspect="true"/>
          </p:cNvPicPr>
          <p:nvPr/>
        </p:nvPicPr>
        <p:blipFill>
          <a:blip r:embed="rId2">
            <a:alphaModFix amt="15000"/>
          </a:blip>
          <a:srcRect l="0" t="21875" r="0" b="21875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61" name="AutoShape 3"/>
          <p:cNvSpPr/>
          <p:nvPr/>
        </p:nvSpPr>
        <p:spPr>
          <a:xfrm rot="0" flipH="false" flipV="false">
            <a:off x="2286000" y="381000"/>
            <a:ext cx="762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false" anchor="ctr" anchorCtr="false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true" i="false" u="none" strike="noStrike">
                <a:solidFill>
                  <a:srgbClr val="F59E0B"/>
                </a:solidFill>
                <a:latin typeface="PingFang SC"/>
                <a:ea typeface="PingFang SC"/>
                <a:cs typeface="PingFang SC"/>
                <a:sym typeface="PingFang SC"/>
              </a:rPr>
              <a:t>投资决策类工具</a:t>
            </a:r>
            <a:endParaRPr lang="en-US" sz="1100"/>
          </a:p>
        </p:txBody>
      </p:sp>
      <p:sp>
        <p:nvSpPr>
          <p:cNvPr id="162" name="AutoShape 4"/>
          <p:cNvSpPr/>
          <p:nvPr/>
        </p:nvSpPr>
        <p:spPr>
          <a:xfrm rot="0" flipH="false" flipV="false">
            <a:off x="2286000" y="952500"/>
            <a:ext cx="762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false" anchor="ctr" anchorCtr="false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false" i="false" u="none" strike="noStrike">
                <a:solidFill>
                  <a:srgbClr val="E5E7EB"/>
                </a:solidFill>
                <a:latin typeface="PingFang SC"/>
                <a:ea typeface="PingFang SC"/>
                <a:cs typeface="PingFang SC"/>
                <a:sym typeface="PingFang SC"/>
              </a:rPr>
              <a:t>Investment Decision</a:t>
            </a:r>
            <a:endParaRPr lang="en-US" sz="1100"/>
          </a:p>
        </p:txBody>
      </p:sp>
      <p:cxnSp>
        <p:nvCxnSpPr>
          <p:cNvPr id="163" name="Connector 5"/>
          <p:cNvCxnSpPr/>
          <p:nvPr/>
        </p:nvCxnSpPr>
        <p:spPr>
          <a:xfrm rot="-3978" flipH="false" flipV="false">
            <a:off x="609604" y="14541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4" name="AutoShape 6"/>
          <p:cNvSpPr/>
          <p:nvPr/>
        </p:nvSpPr>
        <p:spPr>
          <a:xfrm rot="0" flipH="false" flipV="false">
            <a:off x="609600" y="1651000"/>
            <a:ext cx="5334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false" anchor="ctr" anchorCtr="false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true" i="false" u="none" strike="noStrike">
                <a:solidFill>
                  <a:srgbClr val="3B82F6"/>
                </a:solidFill>
                <a:latin typeface="PingFang SC"/>
                <a:ea typeface="PingFang SC"/>
                <a:cs typeface="PingFang SC"/>
                <a:sym typeface="PingFang SC"/>
              </a:rPr>
              <a:t>风险评估工具</a:t>
            </a:r>
            <a:endParaRPr lang="en-US" sz="1100"/>
          </a:p>
        </p:txBody>
      </p:sp>
      <p:sp>
        <p:nvSpPr>
          <p:cNvPr id="165" name="AutoShape 7"/>
          <p:cNvSpPr/>
          <p:nvPr/>
        </p:nvSpPr>
        <p:spPr>
          <a:xfrm rot="0" flipH="false" flipV="false">
            <a:off x="609600" y="2032000"/>
            <a:ext cx="5334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false" anchor="ctr" anchorCtr="false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false" i="false" u="none" strike="noStrike">
                <a:solidFill>
                  <a:srgbClr val="D1D5DB"/>
                </a:solidFill>
                <a:latin typeface="PingFang SC"/>
                <a:ea typeface="PingFang SC"/>
                <a:cs typeface="PingFang SC"/>
                <a:sym typeface="PingFang SC"/>
              </a:rPr>
              <a:t>基于波动率模型，无LLM调用</a:t>
            </a:r>
            <a:endParaRPr lang="en-US" sz="1100"/>
          </a:p>
        </p:txBody>
      </p:sp>
      <p:sp>
        <p:nvSpPr>
          <p:cNvPr id="166" name="AutoShape 8"/>
          <p:cNvSpPr/>
          <p:nvPr/>
        </p:nvSpPr>
        <p:spPr>
          <a:xfrm rot="0" flipH="false" flipV="false">
            <a:off x="609600" y="2413000"/>
            <a:ext cx="5334000" cy="508000"/>
          </a:xfrm>
          <a:prstGeom prst="roundRect">
            <a:avLst>
              <a:gd name="adj" fmla="val 20000"/>
            </a:avLst>
          </a:prstGeom>
          <a:solidFill>
            <a:srgbClr val="3B82F6">
              <a:alpha val="10000"/>
            </a:srgbClr>
          </a:solidFill>
          <a:ln w="12700" cap="flat" cmpd="sng">
            <a:solidFill>
              <a:srgbClr val="3B82F6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false" anchor="ctr"/>
          <a:lstStyle/>
          <a:p>
            <a:pPr algn="ctr">
              <a:defRPr/>
            </a:pPr>
            <a:endParaRPr/>
          </a:p>
        </p:txBody>
      </p:sp>
      <p:pic>
        <p:nvPicPr>
          <p:cNvPr id="167" name="Picture 9"/>
          <p:cNvPicPr>
            <a:picLocks noChangeAspect="true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false" flipV="false">
            <a:off x="762000" y="2540000"/>
            <a:ext cx="254000" cy="254000"/>
          </a:xfrm>
          <a:prstGeom prst="rect">
            <a:avLst/>
          </a:prstGeom>
        </p:spPr>
      </p:pic>
      <p:sp>
        <p:nvSpPr>
          <p:cNvPr id="168" name="AutoShape 10"/>
          <p:cNvSpPr/>
          <p:nvPr/>
        </p:nvSpPr>
        <p:spPr>
          <a:xfrm rot="0" flipH="false" flipV="false">
            <a:off x="1143000" y="2540000"/>
            <a:ext cx="4318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false" anchor="ctr" anchorCtr="false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true" i="false" u="none" strike="noStrike">
                <a:solidFill>
                  <a:srgbClr val="FFFFFF"/>
                </a:solidFill>
                <a:latin typeface="PingFang SC"/>
                <a:ea typeface="PingFang SC"/>
                <a:cs typeface="PingFang SC"/>
                <a:sym typeface="PingFang SC"/>
              </a:rPr>
              <a:t>波动率计算 → 计算股票价格波动率</a:t>
            </a:r>
            <a:endParaRPr lang="en-US" sz="1100"/>
          </a:p>
        </p:txBody>
      </p:sp>
      <p:sp>
        <p:nvSpPr>
          <p:cNvPr id="169" name="AutoShape 11"/>
          <p:cNvSpPr/>
          <p:nvPr/>
        </p:nvSpPr>
        <p:spPr>
          <a:xfrm rot="0" flipH="false" flipV="false">
            <a:off x="609600" y="3048000"/>
            <a:ext cx="5334000" cy="508000"/>
          </a:xfrm>
          <a:prstGeom prst="roundRect">
            <a:avLst>
              <a:gd name="adj" fmla="val 20000"/>
            </a:avLst>
          </a:prstGeom>
          <a:solidFill>
            <a:srgbClr val="3B82F6">
              <a:alpha val="10000"/>
            </a:srgbClr>
          </a:solidFill>
          <a:ln w="12700" cap="flat" cmpd="sng">
            <a:solidFill>
              <a:srgbClr val="3B82F6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false" anchor="ctr"/>
          <a:lstStyle/>
          <a:p>
            <a:pPr algn="ctr">
              <a:defRPr/>
            </a:pPr>
            <a:endParaRPr/>
          </a:p>
        </p:txBody>
      </p:sp>
      <p:pic>
        <p:nvPicPr>
          <p:cNvPr id="170" name="Picture 12"/>
          <p:cNvPicPr>
            <a:picLocks noChangeAspect="true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false" flipV="false">
            <a:off x="762000" y="3175000"/>
            <a:ext cx="254000" cy="254000"/>
          </a:xfrm>
          <a:prstGeom prst="rect">
            <a:avLst/>
          </a:prstGeom>
        </p:spPr>
      </p:pic>
      <p:sp>
        <p:nvSpPr>
          <p:cNvPr id="171" name="AutoShape 13"/>
          <p:cNvSpPr/>
          <p:nvPr/>
        </p:nvSpPr>
        <p:spPr>
          <a:xfrm rot="0" flipH="false" flipV="false">
            <a:off x="1143000" y="3175000"/>
            <a:ext cx="4318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false" anchor="ctr" anchorCtr="false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true" i="false" u="none" strike="noStrike">
                <a:solidFill>
                  <a:srgbClr val="FFFFFF"/>
                </a:solidFill>
                <a:latin typeface="PingFang SC"/>
                <a:ea typeface="PingFang SC"/>
                <a:cs typeface="PingFang SC"/>
                <a:sym typeface="PingFang SC"/>
              </a:rPr>
              <a:t>持仓限制调整 → 根据波动率调整仓位上限</a:t>
            </a:r>
            <a:endParaRPr lang="en-US" sz="1100"/>
          </a:p>
        </p:txBody>
      </p:sp>
      <p:sp>
        <p:nvSpPr>
          <p:cNvPr id="172" name="AutoShape 14"/>
          <p:cNvSpPr/>
          <p:nvPr/>
        </p:nvSpPr>
        <p:spPr>
          <a:xfrm rot="0" flipH="false" flipV="false">
            <a:off x="609600" y="3683000"/>
            <a:ext cx="5334000" cy="762000"/>
          </a:xfrm>
          <a:prstGeom prst="roundRect">
            <a:avLst>
              <a:gd name="adj" fmla="val 13333"/>
            </a:avLst>
          </a:prstGeom>
          <a:solidFill>
            <a:srgbClr val="1F2937">
              <a:alpha val="100000"/>
            </a:srgbClr>
          </a:solidFill>
          <a:ln w="12700" cap="flat" cmpd="sng">
            <a:solidFill>
              <a:srgbClr val="4B5563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false" anchor="ctr"/>
          <a:lstStyle/>
          <a:p>
            <a:pPr algn="ctr">
              <a:defRPr/>
            </a:pPr>
            <a:endParaRPr/>
          </a:p>
        </p:txBody>
      </p:sp>
      <p:sp>
        <p:nvSpPr>
          <p:cNvPr id="173" name="AutoShape 15"/>
          <p:cNvSpPr/>
          <p:nvPr/>
        </p:nvSpPr>
        <p:spPr>
          <a:xfrm rot="0" flipH="false" flipV="false">
            <a:off x="736600" y="3746500"/>
            <a:ext cx="508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false" anchor="t" anchorCtr="false"/>
          <a:lstStyle/>
          <a:p>
            <a:pPr indent="0" algn="l">
              <a:lnSpc>
                <a:spcPct val="116666"/>
              </a:lnSpc>
              <a:defRPr/>
            </a:pPr>
            <a:r>
              <a:rPr lang="en-US" sz="1200" b="false" i="false" u="none" strike="noStrike">
                <a:solidFill>
                  <a:srgbClr val="D1D5DB"/>
                </a:solidFill>
                <a:latin typeface="Roboto Mono"/>
                <a:ea typeface="Roboto Mono"/>
                <a:cs typeface="Roboto Mono"/>
                <a:sym typeface="Roboto Mono"/>
              </a:rPr>
              <a:t>{"position_limit": 25000, "volatility": 0.24, "risk_level": "medium"}</a:t>
            </a:r>
            <a:endParaRPr lang="en-US" sz="1100"/>
          </a:p>
        </p:txBody>
      </p:sp>
      <p:cxnSp>
        <p:nvCxnSpPr>
          <p:cNvPr id="174" name="Connector 16"/>
          <p:cNvCxnSpPr/>
          <p:nvPr/>
        </p:nvCxnSpPr>
        <p:spPr>
          <a:xfrm rot="5384373" flipH="false" flipV="false">
            <a:off x="4699000" y="3041664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75" name="AutoShape 17"/>
          <p:cNvSpPr/>
          <p:nvPr/>
        </p:nvSpPr>
        <p:spPr>
          <a:xfrm rot="0" flipH="false" flipV="false">
            <a:off x="6248400" y="1651000"/>
            <a:ext cx="5334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false" anchor="ctr" anchorCtr="false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true" i="false" u="none" strike="noStrike">
                <a:solidFill>
                  <a:srgbClr val="F59E0B"/>
                </a:solidFill>
                <a:latin typeface="PingFang SC"/>
                <a:ea typeface="PingFang SC"/>
                <a:cs typeface="PingFang SC"/>
                <a:sym typeface="PingFang SC"/>
              </a:rPr>
              <a:t>投资组合管理工具</a:t>
            </a:r>
            <a:endParaRPr lang="en-US" sz="1100"/>
          </a:p>
        </p:txBody>
      </p:sp>
      <p:sp>
        <p:nvSpPr>
          <p:cNvPr id="176" name="AutoShape 18"/>
          <p:cNvSpPr/>
          <p:nvPr/>
        </p:nvSpPr>
        <p:spPr>
          <a:xfrm rot="0" flipH="false" flipV="false">
            <a:off x="6248400" y="2032000"/>
            <a:ext cx="5334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false" anchor="ctr" anchorCtr="false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false" i="false" u="none" strike="noStrike">
                <a:solidFill>
                  <a:srgbClr val="D1D5DB"/>
                </a:solidFill>
                <a:latin typeface="PingFang SC"/>
                <a:ea typeface="PingFang SC"/>
                <a:cs typeface="PingFang SC"/>
                <a:sym typeface="PingFang SC"/>
              </a:rPr>
              <a:t>综合信号，大模型推理</a:t>
            </a:r>
            <a:endParaRPr lang="en-US" sz="1100"/>
          </a:p>
        </p:txBody>
      </p:sp>
      <p:sp>
        <p:nvSpPr>
          <p:cNvPr id="177" name="AutoShape 19"/>
          <p:cNvSpPr/>
          <p:nvPr/>
        </p:nvSpPr>
        <p:spPr>
          <a:xfrm rot="0" flipH="false" flipV="false">
            <a:off x="6248400" y="2413000"/>
            <a:ext cx="5334000" cy="508000"/>
          </a:xfrm>
          <a:prstGeom prst="roundRect">
            <a:avLst>
              <a:gd name="adj" fmla="val 20000"/>
            </a:avLst>
          </a:prstGeom>
          <a:solidFill>
            <a:srgbClr val="F59E0B">
              <a:alpha val="10000"/>
            </a:srgbClr>
          </a:solidFill>
          <a:ln w="12700" cap="flat" cmpd="sng">
            <a:solidFill>
              <a:srgbClr val="F59E0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false" anchor="ctr"/>
          <a:lstStyle/>
          <a:p>
            <a:pPr algn="ctr">
              <a:defRPr/>
            </a:pPr>
            <a:endParaRPr/>
          </a:p>
        </p:txBody>
      </p:sp>
      <p:pic>
        <p:nvPicPr>
          <p:cNvPr id="178" name="Picture 20"/>
          <p:cNvPicPr>
            <a:picLocks noChangeAspect="true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 rot="0" flipH="false" flipV="false">
            <a:off x="6400800" y="2540000"/>
            <a:ext cx="254000" cy="254000"/>
          </a:xfrm>
          <a:prstGeom prst="rect">
            <a:avLst/>
          </a:prstGeom>
        </p:spPr>
      </p:pic>
      <p:sp>
        <p:nvSpPr>
          <p:cNvPr id="179" name="AutoShape 21"/>
          <p:cNvSpPr/>
          <p:nvPr/>
        </p:nvSpPr>
        <p:spPr>
          <a:xfrm rot="0" flipH="false" flipV="false">
            <a:off x="6781800" y="2540000"/>
            <a:ext cx="4318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false" anchor="ctr" anchorCtr="false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true" i="false" u="none" strike="noStrike">
                <a:solidFill>
                  <a:srgbClr val="FFFFFF"/>
                </a:solidFill>
                <a:latin typeface="PingFang SC"/>
                <a:ea typeface="PingFang SC"/>
                <a:cs typeface="PingFang SC"/>
                <a:sym typeface="PingFang SC"/>
              </a:rPr>
              <a:t>信号综合 → 聚合所有分析师信号</a:t>
            </a:r>
            <a:endParaRPr lang="en-US" sz="1100"/>
          </a:p>
        </p:txBody>
      </p:sp>
      <p:sp>
        <p:nvSpPr>
          <p:cNvPr id="180" name="AutoShape 22"/>
          <p:cNvSpPr/>
          <p:nvPr/>
        </p:nvSpPr>
        <p:spPr>
          <a:xfrm rot="0" flipH="false" flipV="false">
            <a:off x="6248400" y="3048000"/>
            <a:ext cx="5334000" cy="508000"/>
          </a:xfrm>
          <a:prstGeom prst="roundRect">
            <a:avLst>
              <a:gd name="adj" fmla="val 20000"/>
            </a:avLst>
          </a:prstGeom>
          <a:solidFill>
            <a:srgbClr val="F59E0B">
              <a:alpha val="10000"/>
            </a:srgbClr>
          </a:solidFill>
          <a:ln w="12700" cap="flat" cmpd="sng">
            <a:solidFill>
              <a:srgbClr val="F59E0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false" anchor="ctr"/>
          <a:lstStyle/>
          <a:p>
            <a:pPr algn="ctr">
              <a:defRPr/>
            </a:pPr>
            <a:endParaRPr/>
          </a:p>
        </p:txBody>
      </p:sp>
      <p:pic>
        <p:nvPicPr>
          <p:cNvPr id="181" name="Picture 23"/>
          <p:cNvPicPr>
            <a:picLocks noChangeAspect="true"/>
          </p:cNvPicPr>
          <p:nvPr/>
        </p:nvPicPr>
        <p:blipFill>
          <a:blip>
            <a:extLst>
              <a:ext uri="{96DAC541-7B7A-43D3-8B79-37D633B846F1}">
                <asvg:svgBlip r:embed="rId6"/>
              </a:ext>
            </a:extLst>
          </a:blip>
          <a:stretch>
            <a:fillRect/>
          </a:stretch>
        </p:blipFill>
        <p:spPr>
          <a:xfrm rot="0" flipH="false" flipV="false">
            <a:off x="6400800" y="3175000"/>
            <a:ext cx="254000" cy="254000"/>
          </a:xfrm>
          <a:prstGeom prst="rect">
            <a:avLst/>
          </a:prstGeom>
        </p:spPr>
      </p:pic>
      <p:sp>
        <p:nvSpPr>
          <p:cNvPr id="182" name="AutoShape 24"/>
          <p:cNvSpPr/>
          <p:nvPr/>
        </p:nvSpPr>
        <p:spPr>
          <a:xfrm rot="0" flipH="false" flipV="false">
            <a:off x="6781800" y="3175000"/>
            <a:ext cx="4318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false" anchor="ctr" anchorCtr="false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true" i="false" u="none" strike="noStrike">
                <a:solidFill>
                  <a:srgbClr val="FFFFFF"/>
                </a:solidFill>
                <a:latin typeface="PingFang SC"/>
                <a:ea typeface="PingFang SC"/>
                <a:cs typeface="PingFang SC"/>
                <a:sym typeface="PingFang SC"/>
              </a:rPr>
              <a:t>交易决策 → 生成具体交易指令</a:t>
            </a:r>
            <a:endParaRPr lang="en-US" sz="1100"/>
          </a:p>
        </p:txBody>
      </p:sp>
      <p:sp>
        <p:nvSpPr>
          <p:cNvPr id="183" name="AutoShape 25"/>
          <p:cNvSpPr/>
          <p:nvPr/>
        </p:nvSpPr>
        <p:spPr>
          <a:xfrm rot="0" flipH="false" flipV="false">
            <a:off x="6248400" y="3683000"/>
            <a:ext cx="5334000" cy="762000"/>
          </a:xfrm>
          <a:prstGeom prst="roundRect">
            <a:avLst>
              <a:gd name="adj" fmla="val 13333"/>
            </a:avLst>
          </a:prstGeom>
          <a:solidFill>
            <a:srgbClr val="1F2937">
              <a:alpha val="100000"/>
            </a:srgbClr>
          </a:solidFill>
          <a:ln w="12700" cap="flat" cmpd="sng">
            <a:solidFill>
              <a:srgbClr val="4B5563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false" anchor="ctr"/>
          <a:lstStyle/>
          <a:p>
            <a:pPr algn="ctr">
              <a:defRPr/>
            </a:pPr>
            <a:endParaRPr/>
          </a:p>
        </p:txBody>
      </p:sp>
      <p:sp>
        <p:nvSpPr>
          <p:cNvPr id="184" name="AutoShape 26"/>
          <p:cNvSpPr/>
          <p:nvPr/>
        </p:nvSpPr>
        <p:spPr>
          <a:xfrm rot="0" flipH="false" flipV="false">
            <a:off x="6375400" y="3746500"/>
            <a:ext cx="508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false" anchor="t" anchorCtr="false"/>
          <a:lstStyle/>
          <a:p>
            <a:pPr indent="0" algn="l">
              <a:lnSpc>
                <a:spcPct val="116666"/>
              </a:lnSpc>
              <a:defRPr/>
            </a:pPr>
            <a:r>
              <a:rPr lang="en-US" sz="1200" b="false" i="false" u="none" strike="noStrike">
                <a:solidFill>
                  <a:srgbClr val="D1D5DB"/>
                </a:solidFill>
                <a:latin typeface="Roboto Mono"/>
                <a:ea typeface="Roboto Mono"/>
                <a:cs typeface="Roboto Mono"/>
                <a:sym typeface="Roboto Mono"/>
              </a:rPr>
              <a:t>{"action": "buy", "shares": 140, "entry_price": 178.52, "confidence": 80}</a:t>
            </a:r>
            <a:endParaRPr lang="en-US" sz="1100"/>
          </a:p>
        </p:txBody>
      </p:sp>
      <p:cxnSp>
        <p:nvCxnSpPr>
          <p:cNvPr id="185" name="Connector 27"/>
          <p:cNvCxnSpPr/>
          <p:nvPr/>
        </p:nvCxnSpPr>
        <p:spPr>
          <a:xfrm rot="-3978" flipH="false" flipV="false">
            <a:off x="609604" y="46291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6" name="AutoShape 28"/>
          <p:cNvSpPr/>
          <p:nvPr/>
        </p:nvSpPr>
        <p:spPr>
          <a:xfrm rot="0" flipH="false" flipV="false">
            <a:off x="609600" y="4826000"/>
            <a:ext cx="109728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false" anchor="ctr" anchorCtr="false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true" i="false" u="none" strike="noStrike">
                <a:solidFill>
                  <a:srgbClr val="FFFFFF"/>
                </a:solidFill>
                <a:latin typeface="PingFang SC"/>
                <a:ea typeface="PingFang SC"/>
                <a:cs typeface="PingFang SC"/>
                <a:sym typeface="PingFang SC"/>
              </a:rPr>
              <a:t>最终交易指令</a:t>
            </a:r>
            <a:endParaRPr lang="en-US" sz="1100"/>
          </a:p>
        </p:txBody>
      </p:sp>
      <p:sp>
        <p:nvSpPr>
          <p:cNvPr id="187" name="AutoShape 29"/>
          <p:cNvSpPr/>
          <p:nvPr/>
        </p:nvSpPr>
        <p:spPr>
          <a:xfrm rot="0" flipH="false" flipV="false">
            <a:off x="609600" y="5334000"/>
            <a:ext cx="3492500" cy="635000"/>
          </a:xfrm>
          <a:prstGeom prst="roundRect">
            <a:avLst>
              <a:gd name="adj" fmla="val 16000"/>
            </a:avLst>
          </a:prstGeom>
          <a:solidFill>
            <a:srgbClr val="10B981">
              <a:alpha val="15000"/>
            </a:srgbClr>
          </a:solidFill>
          <a:ln w="12700" cap="flat" cmpd="sng">
            <a:solidFill>
              <a:srgbClr val="10B98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false" anchor="ctr"/>
          <a:lstStyle/>
          <a:p>
            <a:pPr algn="ctr">
              <a:defRPr/>
            </a:pPr>
            <a:endParaRPr/>
          </a:p>
        </p:txBody>
      </p:sp>
      <p:pic>
        <p:nvPicPr>
          <p:cNvPr id="188" name="Picture 30"/>
          <p:cNvPicPr>
            <a:picLocks noChangeAspect="true"/>
          </p:cNvPicPr>
          <p:nvPr/>
        </p:nvPicPr>
        <p:blipFill>
          <a:blip>
            <a:extLst>
              <a:ext uri="{96DAC541-7B7A-43D3-8B79-37D633B846F1}">
                <asvg:svgBlip r:embed="rId7"/>
              </a:ext>
            </a:extLst>
          </a:blip>
          <a:stretch>
            <a:fillRect/>
          </a:stretch>
        </p:blipFill>
        <p:spPr>
          <a:xfrm rot="0" flipH="false" flipV="false">
            <a:off x="812800" y="5511800"/>
            <a:ext cx="279400" cy="279400"/>
          </a:xfrm>
          <a:prstGeom prst="rect">
            <a:avLst/>
          </a:prstGeom>
        </p:spPr>
      </p:pic>
      <p:sp>
        <p:nvSpPr>
          <p:cNvPr id="189" name="AutoShape 31"/>
          <p:cNvSpPr/>
          <p:nvPr/>
        </p:nvSpPr>
        <p:spPr>
          <a:xfrm rot="0" flipH="false" flipV="false">
            <a:off x="1219200" y="54991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false" anchor="ctr" anchorCtr="false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true" i="false" u="none" strike="noStrike">
                <a:solidFill>
                  <a:srgbClr val="FFFFFF"/>
                </a:solidFill>
                <a:latin typeface="PingFang SC"/>
                <a:ea typeface="PingFang SC"/>
                <a:cs typeface="PingFang SC"/>
                <a:sym typeface="PingFang SC"/>
              </a:rPr>
              <a:t>买入 (Buy)</a:t>
            </a:r>
            <a:endParaRPr lang="en-US" sz="1100"/>
          </a:p>
        </p:txBody>
      </p:sp>
      <p:sp>
        <p:nvSpPr>
          <p:cNvPr id="190" name="AutoShape 32"/>
          <p:cNvSpPr/>
          <p:nvPr/>
        </p:nvSpPr>
        <p:spPr>
          <a:xfrm rot="0" flipH="false" flipV="false">
            <a:off x="4356100" y="5334000"/>
            <a:ext cx="3492500" cy="635000"/>
          </a:xfrm>
          <a:prstGeom prst="roundRect">
            <a:avLst>
              <a:gd name="adj" fmla="val 16000"/>
            </a:avLst>
          </a:prstGeom>
          <a:solidFill>
            <a:srgbClr val="EF4444">
              <a:alpha val="15000"/>
            </a:srgbClr>
          </a:solidFill>
          <a:ln w="12700" cap="flat" cmpd="sng">
            <a:solidFill>
              <a:srgbClr val="EF4444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false" anchor="ctr"/>
          <a:lstStyle/>
          <a:p>
            <a:pPr algn="ctr">
              <a:defRPr/>
            </a:pPr>
            <a:endParaRPr/>
          </a:p>
        </p:txBody>
      </p:sp>
      <p:pic>
        <p:nvPicPr>
          <p:cNvPr id="191" name="Picture 33"/>
          <p:cNvPicPr>
            <a:picLocks noChangeAspect="true"/>
          </p:cNvPicPr>
          <p:nvPr/>
        </p:nvPicPr>
        <p:blipFill>
          <a:blip>
            <a:extLst>
              <a:ext uri="{96DAC541-7B7A-43D3-8B79-37D633B846F1}">
                <asvg:svgBlip r:embed="rId8"/>
              </a:ext>
            </a:extLst>
          </a:blip>
          <a:stretch>
            <a:fillRect/>
          </a:stretch>
        </p:blipFill>
        <p:spPr>
          <a:xfrm rot="0" flipH="false" flipV="false">
            <a:off x="4559300" y="5511800"/>
            <a:ext cx="279400" cy="279400"/>
          </a:xfrm>
          <a:prstGeom prst="rect">
            <a:avLst/>
          </a:prstGeom>
        </p:spPr>
      </p:pic>
      <p:sp>
        <p:nvSpPr>
          <p:cNvPr id="192" name="AutoShape 34"/>
          <p:cNvSpPr/>
          <p:nvPr/>
        </p:nvSpPr>
        <p:spPr>
          <a:xfrm rot="0" flipH="false" flipV="false">
            <a:off x="4965700" y="54991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false" anchor="ctr" anchorCtr="false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true" i="false" u="none" strike="noStrike">
                <a:solidFill>
                  <a:srgbClr val="FFFFFF"/>
                </a:solidFill>
                <a:latin typeface="PingFang SC"/>
                <a:ea typeface="PingFang SC"/>
                <a:cs typeface="PingFang SC"/>
                <a:sym typeface="PingFang SC"/>
              </a:rPr>
              <a:t>卖出 (Sell)</a:t>
            </a:r>
            <a:endParaRPr lang="en-US" sz="1100"/>
          </a:p>
        </p:txBody>
      </p:sp>
      <p:sp>
        <p:nvSpPr>
          <p:cNvPr id="193" name="AutoShape 35"/>
          <p:cNvSpPr/>
          <p:nvPr/>
        </p:nvSpPr>
        <p:spPr>
          <a:xfrm rot="0" flipH="false" flipV="false">
            <a:off x="8102600" y="5334000"/>
            <a:ext cx="3492500" cy="635000"/>
          </a:xfrm>
          <a:prstGeom prst="roundRect">
            <a:avLst>
              <a:gd name="adj" fmla="val 16000"/>
            </a:avLst>
          </a:prstGeom>
          <a:solidFill>
            <a:srgbClr val="6B7280">
              <a:alpha val="15000"/>
            </a:srgbClr>
          </a:solidFill>
          <a:ln w="12700" cap="flat" cmpd="sng">
            <a:solidFill>
              <a:srgbClr val="6B728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false" anchor="ctr"/>
          <a:lstStyle/>
          <a:p>
            <a:pPr algn="ctr">
              <a:defRPr/>
            </a:pPr>
            <a:endParaRPr/>
          </a:p>
        </p:txBody>
      </p:sp>
      <p:pic>
        <p:nvPicPr>
          <p:cNvPr id="194" name="Picture 36"/>
          <p:cNvPicPr>
            <a:picLocks noChangeAspect="true"/>
          </p:cNvPicPr>
          <p:nvPr/>
        </p:nvPicPr>
        <p:blipFill>
          <a:blip>
            <a:extLst>
              <a:ext uri="{96DAC541-7B7A-43D3-8B79-37D633B846F1}">
                <asvg:svgBlip r:embed="rId9"/>
              </a:ext>
            </a:extLst>
          </a:blip>
          <a:stretch>
            <a:fillRect/>
          </a:stretch>
        </p:blipFill>
        <p:spPr>
          <a:xfrm rot="0" flipH="false" flipV="false">
            <a:off x="8305800" y="5511800"/>
            <a:ext cx="279400" cy="279400"/>
          </a:xfrm>
          <a:prstGeom prst="rect">
            <a:avLst/>
          </a:prstGeom>
        </p:spPr>
      </p:pic>
      <p:sp>
        <p:nvSpPr>
          <p:cNvPr id="195" name="AutoShape 37"/>
          <p:cNvSpPr/>
          <p:nvPr/>
        </p:nvSpPr>
        <p:spPr>
          <a:xfrm rot="0" flipH="false" flipV="false">
            <a:off x="8712200" y="54991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false" anchor="ctr" anchorCtr="false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true" i="false" u="none" strike="noStrike">
                <a:solidFill>
                  <a:srgbClr val="FFFFFF"/>
                </a:solidFill>
                <a:latin typeface="PingFang SC"/>
                <a:ea typeface="PingFang SC"/>
                <a:cs typeface="PingFang SC"/>
                <a:sym typeface="PingFang SC"/>
              </a:rPr>
              <a:t>持有 (Hold)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bg>
      <p:bgPr>
        <a:solidFill>
          <a:srgbClr val="111827">
            <a:alpha val="100000"/>
          </a:srgbClr>
        </a:solidFill>
      </p:bgPr>
    </p:bg>
    <p:spTree>
      <p:nvGrpSpPr>
        <p:cNvPr id="19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Picture 2"/>
          <p:cNvPicPr>
            <a:picLocks noChangeAspect="true"/>
          </p:cNvPicPr>
          <p:nvPr/>
        </p:nvPicPr>
        <p:blipFill>
          <a:blip r:embed="rId2">
            <a:alphaModFix amt="30000"/>
          </a:blip>
          <a:srcRect l="0" t="21875" r="0" b="21875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98" name="AutoShape 3"/>
          <p:cNvSpPr/>
          <p:nvPr/>
        </p:nvSpPr>
        <p:spPr>
          <a:xfrm rot="0" flipH="false" flipV="false">
            <a:off x="2286000" y="508000"/>
            <a:ext cx="762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false" anchor="ctr" anchorCtr="false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true" i="false" u="none" strike="noStrike">
                <a:solidFill>
                  <a:srgbClr val="F59E0B"/>
                </a:solidFill>
                <a:latin typeface="PingFang SC"/>
                <a:ea typeface="PingFang SC"/>
                <a:cs typeface="PingFang SC"/>
                <a:sym typeface="PingFang SC"/>
              </a:rPr>
              <a:t>核心优势总结</a:t>
            </a:r>
            <a:endParaRPr lang="en-US" sz="1100"/>
          </a:p>
        </p:txBody>
      </p:sp>
      <p:sp>
        <p:nvSpPr>
          <p:cNvPr id="199" name="AutoShape 4"/>
          <p:cNvSpPr/>
          <p:nvPr/>
        </p:nvSpPr>
        <p:spPr>
          <a:xfrm rot="0" flipH="false" flipV="false">
            <a:off x="762000" y="1778000"/>
            <a:ext cx="3302000" cy="2286000"/>
          </a:xfrm>
          <a:prstGeom prst="roundRect">
            <a:avLst>
              <a:gd name="adj" fmla="val 6666"/>
            </a:avLst>
          </a:prstGeom>
          <a:solidFill>
            <a:srgbClr val="FFFFFF">
              <a:alpha val="5000"/>
            </a:srgbClr>
          </a:solidFill>
          <a:ln w="25400" cap="flat" cmpd="sng">
            <a:solidFill>
              <a:srgbClr val="3B82F6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false" anchor="ctr"/>
          <a:lstStyle/>
          <a:p>
            <a:pPr algn="ctr">
              <a:defRPr/>
            </a:pPr>
            <a:endParaRPr/>
          </a:p>
        </p:txBody>
      </p:sp>
      <p:pic>
        <p:nvPicPr>
          <p:cNvPr id="200" name="Picture 5"/>
          <p:cNvPicPr>
            <a:picLocks noChangeAspect="true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false" flipV="false">
            <a:off x="1016000" y="2032000"/>
            <a:ext cx="406400" cy="406400"/>
          </a:xfrm>
          <a:prstGeom prst="rect">
            <a:avLst/>
          </a:prstGeom>
        </p:spPr>
      </p:pic>
      <p:sp>
        <p:nvSpPr>
          <p:cNvPr id="201" name="AutoShape 6"/>
          <p:cNvSpPr/>
          <p:nvPr/>
        </p:nvSpPr>
        <p:spPr>
          <a:xfrm rot="0" flipH="false" flipV="false">
            <a:off x="1549400" y="2057400"/>
            <a:ext cx="2286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false" anchor="ctr" anchorCtr="false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true" i="false" u="none" strike="noStrike">
                <a:solidFill>
                  <a:srgbClr val="FFFFFF"/>
                </a:solidFill>
                <a:latin typeface="PingFang SC"/>
                <a:ea typeface="PingFang SC"/>
                <a:cs typeface="PingFang SC"/>
                <a:sym typeface="PingFang SC"/>
              </a:rPr>
              <a:t>数据全面</a:t>
            </a:r>
            <a:endParaRPr lang="en-US" sz="1100"/>
          </a:p>
        </p:txBody>
      </p:sp>
      <p:sp>
        <p:nvSpPr>
          <p:cNvPr id="202" name="AutoShape 7"/>
          <p:cNvSpPr/>
          <p:nvPr/>
        </p:nvSpPr>
        <p:spPr>
          <a:xfrm rot="0" flipH="false" flipV="false">
            <a:off x="1016000" y="2603500"/>
            <a:ext cx="2794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false" anchor="t" anchorCtr="false"/>
          <a:lstStyle/>
          <a:p>
            <a:pPr indent="0" algn="l">
              <a:lnSpc>
                <a:spcPct val="116666"/>
              </a:lnSpc>
              <a:defRPr/>
            </a:pPr>
            <a:r>
              <a:rPr lang="en-US" sz="1400" b="false" i="false" u="none" strike="noStrike">
                <a:solidFill>
                  <a:srgbClr val="E5E7EB"/>
                </a:solidFill>
                <a:latin typeface="PingFang SC"/>
                <a:ea typeface="PingFang SC"/>
                <a:cs typeface="PingFang SC"/>
                <a:sym typeface="PingFang SC"/>
              </a:rPr>
              <a:t>实时股价、财务指标、新闻情绪、内部交易</a:t>
            </a:r>
            <a:endParaRPr lang="en-US" sz="1100"/>
          </a:p>
        </p:txBody>
      </p:sp>
      <p:sp>
        <p:nvSpPr>
          <p:cNvPr id="203" name="AutoShape 8"/>
          <p:cNvSpPr/>
          <p:nvPr/>
        </p:nvSpPr>
        <p:spPr>
          <a:xfrm rot="0" flipH="false" flipV="false">
            <a:off x="1016000" y="3365500"/>
            <a:ext cx="2794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false" anchor="ctr" anchorCtr="false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false" i="false" u="none" strike="noStrike">
                <a:solidFill>
                  <a:srgbClr val="9CA3AF"/>
                </a:solidFill>
                <a:latin typeface="PingFang SC"/>
                <a:ea typeface="PingFang SC"/>
                <a:cs typeface="PingFang SC"/>
                <a:sym typeface="PingFang SC"/>
              </a:rPr>
              <a:t>四大数据源</a:t>
            </a:r>
            <a:endParaRPr lang="en-US" sz="1100"/>
          </a:p>
        </p:txBody>
      </p:sp>
      <p:pic>
        <p:nvPicPr>
          <p:cNvPr id="204" name="Picture 9"/>
          <p:cNvPicPr>
            <a:picLocks noChangeAspect="true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false" flipV="false">
            <a:off x="4191000" y="2717800"/>
            <a:ext cx="406400" cy="406400"/>
          </a:xfrm>
          <a:prstGeom prst="rect">
            <a:avLst/>
          </a:prstGeom>
        </p:spPr>
      </p:pic>
      <p:sp>
        <p:nvSpPr>
          <p:cNvPr id="205" name="AutoShape 10"/>
          <p:cNvSpPr/>
          <p:nvPr/>
        </p:nvSpPr>
        <p:spPr>
          <a:xfrm rot="0" flipH="false" flipV="false">
            <a:off x="4699000" y="1778000"/>
            <a:ext cx="3302000" cy="2286000"/>
          </a:xfrm>
          <a:prstGeom prst="roundRect">
            <a:avLst>
              <a:gd name="adj" fmla="val 6666"/>
            </a:avLst>
          </a:prstGeom>
          <a:solidFill>
            <a:srgbClr val="FFFFFF">
              <a:alpha val="5000"/>
            </a:srgbClr>
          </a:solidFill>
          <a:ln w="25400" cap="flat" cmpd="sng">
            <a:solidFill>
              <a:srgbClr val="8B5CF6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false" anchor="ctr"/>
          <a:lstStyle/>
          <a:p>
            <a:pPr algn="ctr">
              <a:defRPr/>
            </a:pPr>
            <a:endParaRPr/>
          </a:p>
        </p:txBody>
      </p:sp>
      <p:pic>
        <p:nvPicPr>
          <p:cNvPr id="206" name="Picture 11"/>
          <p:cNvPicPr>
            <a:picLocks noChangeAspect="true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 rot="0" flipH="false" flipV="false">
            <a:off x="4953000" y="2032000"/>
            <a:ext cx="406400" cy="406400"/>
          </a:xfrm>
          <a:prstGeom prst="rect">
            <a:avLst/>
          </a:prstGeom>
        </p:spPr>
      </p:pic>
      <p:sp>
        <p:nvSpPr>
          <p:cNvPr id="207" name="AutoShape 12"/>
          <p:cNvSpPr/>
          <p:nvPr/>
        </p:nvSpPr>
        <p:spPr>
          <a:xfrm rot="0" flipH="false" flipV="false">
            <a:off x="5486400" y="2057400"/>
            <a:ext cx="2286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false" anchor="ctr" anchorCtr="false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true" i="false" u="none" strike="noStrike">
                <a:solidFill>
                  <a:srgbClr val="FFFFFF"/>
                </a:solidFill>
                <a:latin typeface="PingFang SC"/>
                <a:ea typeface="PingFang SC"/>
                <a:cs typeface="PingFang SC"/>
                <a:sym typeface="PingFang SC"/>
              </a:rPr>
              <a:t>分析多维</a:t>
            </a:r>
            <a:endParaRPr lang="en-US" sz="1100"/>
          </a:p>
        </p:txBody>
      </p:sp>
      <p:sp>
        <p:nvSpPr>
          <p:cNvPr id="208" name="AutoShape 13"/>
          <p:cNvSpPr/>
          <p:nvPr/>
        </p:nvSpPr>
        <p:spPr>
          <a:xfrm rot="0" flipH="false" flipV="false">
            <a:off x="4953000" y="2603500"/>
            <a:ext cx="2794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false" anchor="t" anchorCtr="false"/>
          <a:lstStyle/>
          <a:p>
            <a:pPr indent="0" algn="l">
              <a:lnSpc>
                <a:spcPct val="116666"/>
              </a:lnSpc>
              <a:defRPr/>
            </a:pPr>
            <a:r>
              <a:rPr lang="en-US" sz="1400" b="false" i="false" u="none" strike="noStrike">
                <a:solidFill>
                  <a:srgbClr val="E5E7EB"/>
                </a:solidFill>
                <a:latin typeface="PingFang SC"/>
                <a:ea typeface="PingFang SC"/>
                <a:cs typeface="PingFang SC"/>
                <a:sym typeface="PingFang SC"/>
              </a:rPr>
              <a:t>17位AI分析师，覆盖价值、成长、技术等流派</a:t>
            </a:r>
            <a:endParaRPr lang="en-US" sz="1100"/>
          </a:p>
        </p:txBody>
      </p:sp>
      <p:sp>
        <p:nvSpPr>
          <p:cNvPr id="209" name="AutoShape 14"/>
          <p:cNvSpPr/>
          <p:nvPr/>
        </p:nvSpPr>
        <p:spPr>
          <a:xfrm rot="0" flipH="false" flipV="false">
            <a:off x="4953000" y="3365500"/>
            <a:ext cx="2794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false" anchor="ctr" anchorCtr="false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false" i="false" u="none" strike="noStrike">
                <a:solidFill>
                  <a:srgbClr val="9CA3AF"/>
                </a:solidFill>
                <a:latin typeface="PingFang SC"/>
                <a:ea typeface="PingFang SC"/>
                <a:cs typeface="PingFang SC"/>
                <a:sym typeface="PingFang SC"/>
              </a:rPr>
              <a:t>全方位视角</a:t>
            </a:r>
            <a:endParaRPr lang="en-US" sz="1100"/>
          </a:p>
        </p:txBody>
      </p:sp>
      <p:pic>
        <p:nvPicPr>
          <p:cNvPr id="210" name="Picture 15"/>
          <p:cNvPicPr>
            <a:picLocks noChangeAspect="true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false" flipV="false">
            <a:off x="8128000" y="2717800"/>
            <a:ext cx="406400" cy="406400"/>
          </a:xfrm>
          <a:prstGeom prst="rect">
            <a:avLst/>
          </a:prstGeom>
        </p:spPr>
      </p:pic>
      <p:sp>
        <p:nvSpPr>
          <p:cNvPr id="211" name="AutoShape 16"/>
          <p:cNvSpPr/>
          <p:nvPr/>
        </p:nvSpPr>
        <p:spPr>
          <a:xfrm rot="0" flipH="false" flipV="false">
            <a:off x="8636000" y="1778000"/>
            <a:ext cx="3302000" cy="2286000"/>
          </a:xfrm>
          <a:prstGeom prst="roundRect">
            <a:avLst>
              <a:gd name="adj" fmla="val 6666"/>
            </a:avLst>
          </a:prstGeom>
          <a:solidFill>
            <a:srgbClr val="FFFFFF">
              <a:alpha val="5000"/>
            </a:srgbClr>
          </a:solidFill>
          <a:ln w="25400" cap="flat" cmpd="sng">
            <a:solidFill>
              <a:srgbClr val="F59E0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false" anchor="ctr"/>
          <a:lstStyle/>
          <a:p>
            <a:pPr algn="ctr">
              <a:defRPr/>
            </a:pPr>
            <a:endParaRPr/>
          </a:p>
        </p:txBody>
      </p:sp>
      <p:pic>
        <p:nvPicPr>
          <p:cNvPr id="212" name="Picture 17"/>
          <p:cNvPicPr>
            <a:picLocks noChangeAspect="true"/>
          </p:cNvPicPr>
          <p:nvPr/>
        </p:nvPicPr>
        <p:blipFill>
          <a:blip>
            <a:extLst>
              <a:ext uri="{96DAC541-7B7A-43D3-8B79-37D633B846F1}">
                <asvg:svgBlip r:embed="rId6"/>
              </a:ext>
            </a:extLst>
          </a:blip>
          <a:stretch>
            <a:fillRect/>
          </a:stretch>
        </p:blipFill>
        <p:spPr>
          <a:xfrm rot="0" flipH="false" flipV="false">
            <a:off x="8890000" y="2032000"/>
            <a:ext cx="406400" cy="406400"/>
          </a:xfrm>
          <a:prstGeom prst="rect">
            <a:avLst/>
          </a:prstGeom>
        </p:spPr>
      </p:pic>
      <p:sp>
        <p:nvSpPr>
          <p:cNvPr id="213" name="AutoShape 18"/>
          <p:cNvSpPr/>
          <p:nvPr/>
        </p:nvSpPr>
        <p:spPr>
          <a:xfrm rot="0" flipH="false" flipV="false">
            <a:off x="9423400" y="2057400"/>
            <a:ext cx="2286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false" anchor="ctr" anchorCtr="false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true" i="false" u="none" strike="noStrike">
                <a:solidFill>
                  <a:srgbClr val="FFFFFF"/>
                </a:solidFill>
                <a:latin typeface="PingFang SC"/>
                <a:ea typeface="PingFang SC"/>
                <a:cs typeface="PingFang SC"/>
                <a:sym typeface="PingFang SC"/>
              </a:rPr>
              <a:t>决策智能</a:t>
            </a:r>
            <a:endParaRPr lang="en-US" sz="1100"/>
          </a:p>
        </p:txBody>
      </p:sp>
      <p:sp>
        <p:nvSpPr>
          <p:cNvPr id="214" name="AutoShape 19"/>
          <p:cNvSpPr/>
          <p:nvPr/>
        </p:nvSpPr>
        <p:spPr>
          <a:xfrm rot="0" flipH="false" flipV="false">
            <a:off x="8890000" y="2603500"/>
            <a:ext cx="2794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false" anchor="t" anchorCtr="false"/>
          <a:lstStyle/>
          <a:p>
            <a:pPr indent="0" algn="l">
              <a:lnSpc>
                <a:spcPct val="116666"/>
              </a:lnSpc>
              <a:defRPr/>
            </a:pPr>
            <a:r>
              <a:rPr lang="en-US" sz="1400" b="false" i="false" u="none" strike="noStrike">
                <a:solidFill>
                  <a:srgbClr val="E5E7EB"/>
                </a:solidFill>
                <a:latin typeface="PingFang SC"/>
                <a:ea typeface="PingFang SC"/>
                <a:cs typeface="PingFang SC"/>
                <a:sym typeface="PingFang SC"/>
              </a:rPr>
              <a:t>大语言模型推理，输出精准交易指令</a:t>
            </a:r>
            <a:endParaRPr lang="en-US" sz="1100"/>
          </a:p>
        </p:txBody>
      </p:sp>
      <p:sp>
        <p:nvSpPr>
          <p:cNvPr id="215" name="AutoShape 20"/>
          <p:cNvSpPr/>
          <p:nvPr/>
        </p:nvSpPr>
        <p:spPr>
          <a:xfrm rot="0" flipH="false" flipV="false">
            <a:off x="8890000" y="3365500"/>
            <a:ext cx="2794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false" anchor="ctr" anchorCtr="false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false" i="false" u="none" strike="noStrike">
                <a:solidFill>
                  <a:srgbClr val="9CA3AF"/>
                </a:solidFill>
                <a:latin typeface="PingFang SC"/>
                <a:ea typeface="PingFang SC"/>
                <a:cs typeface="PingFang SC"/>
                <a:sym typeface="PingFang SC"/>
              </a:rPr>
              <a:t>AI驱动</a:t>
            </a:r>
            <a:endParaRPr lang="en-US" sz="1100"/>
          </a:p>
        </p:txBody>
      </p:sp>
      <p:cxnSp>
        <p:nvCxnSpPr>
          <p:cNvPr id="216" name="Connector 21"/>
          <p:cNvCxnSpPr/>
          <p:nvPr/>
        </p:nvCxnSpPr>
        <p:spPr>
          <a:xfrm rot="-4092" flipH="false" flipV="false">
            <a:off x="762004" y="4438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7" name="AutoShape 22"/>
          <p:cNvSpPr/>
          <p:nvPr/>
        </p:nvSpPr>
        <p:spPr>
          <a:xfrm rot="0" flipH="false" flipV="false">
            <a:off x="2286000" y="4699000"/>
            <a:ext cx="762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false" anchor="ctr" anchorCtr="false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false" i="false" u="none" strike="noStrike">
                <a:solidFill>
                  <a:srgbClr val="9CA3AF"/>
                </a:solidFill>
                <a:latin typeface="PingFang SC"/>
                <a:ea typeface="PingFang SC"/>
                <a:cs typeface="PingFang SC"/>
                <a:sym typeface="PingFang SC"/>
              </a:rPr>
              <a:t>基于 OpenJiuWen Agent Studio</a:t>
            </a:r>
            <a:endParaRPr lang="en-US" sz="1100"/>
          </a:p>
        </p:txBody>
      </p:sp>
      <p:sp>
        <p:nvSpPr>
          <p:cNvPr id="218" name="AutoShape 23"/>
          <p:cNvSpPr/>
          <p:nvPr/>
        </p:nvSpPr>
        <p:spPr>
          <a:xfrm rot="0" flipH="false" flipV="false">
            <a:off x="2286000" y="5461000"/>
            <a:ext cx="762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false" anchor="ctr" anchorCtr="false"/>
          <a:lstStyle/>
          <a:p>
            <a:pPr indent="0" algn="ctr">
              <a:lnSpc>
                <a:spcPct val="125000"/>
              </a:lnSpc>
              <a:buClr>
                <a:srgbClr val="000000">
                  <a:alpha val="100000"/>
                </a:srgbClr>
              </a:buClr>
              <a:buFont typeface="Arial"/>
              <a:defRPr sz="1400" b="false" i="false" u="none" strike="noStrike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pPr>
            <a:endParaRPr lang="en-US" sz="2800" b="true" i="false" u="none" strike="noStrike">
              <a:solidFill>
                <a:srgbClr val="F59E0B">
                  <a:alpha val="100000"/>
                </a:srgbClr>
              </a:solidFill>
              <a:latin typeface="PingFang SC"/>
              <a:ea typeface="PingFang SC"/>
              <a:cs typeface="PingFang SC"/>
              <a:sym typeface="PingFang S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true"/>
        </a:gradFill>
        <a:gradFill rotWithShape="true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false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false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true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true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true"/>
        </a:gradFill>
        <a:gradFill rotWithShape="true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false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false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true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true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true"/>
        </a:gradFill>
        <a:gradFill rotWithShape="true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false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false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true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true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2026-01-20T14:33:19Z</dcterms:created>
  <dcterms:modified xsi:type="dcterms:W3CDTF">2026-01-20T14:33:19Z</dcterms:modified>
</cp:coreProperties>
</file>